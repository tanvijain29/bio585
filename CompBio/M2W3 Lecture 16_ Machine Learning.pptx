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EC75F6-F0A2-423F-BD84-0B1CD15C814E}">
  <a:tblStyle styleId="{2CEC75F6-F0A2-423F-BD84-0B1CD15C81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e7a79f8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e7a79f8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6ef0bb9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6ef0bb9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ef0bb91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46ef0bb91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6f159b7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6f159b7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4178c9392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f4178c9392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7e7a79f84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7e7a79f8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67c3b5f77_0_1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67c3b5f77_0_1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67c3b5f77_0_1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467c3b5f77_0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67c3b5f77_0_1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467c3b5f77_0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67c3b5f77_0_1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467c3b5f77_0_1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467c3b5f77_0_1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467c3b5f77_0_1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467c3b5f77_0_1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467c3b5f77_0_1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67c3b5f77_0_1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467c3b5f77_0_1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467c3b5f77_0_1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467c3b5f77_0_1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467c3b5f77_0_1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467c3b5f77_0_1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467c3b5f77_0_1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467c3b5f77_0_1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467c3b5f77_0_1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467c3b5f77_0_1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467c3b5f77_0_2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467c3b5f77_0_2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467c3b5f77_0_2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467c3b5f77_0_2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467c3b5f77_0_2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467c3b5f77_0_2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467c3b5f77_0_2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467c3b5f77_0_2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467c3b5f77_0_1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467c3b5f77_0_1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467c3b5f77_0_1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467c3b5f77_0_1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467c3b5f77_0_1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467c3b5f77_0_1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467c3b5f77_0_2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467c3b5f77_0_2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46ef0bb91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46ef0bb9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467c3b5f77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3467c3b5f77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467c3b5f77_0_2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467c3b5f77_0_2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467c3b5f7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g3467c3b5f7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The learning part of machine learning comes into play when we do things like this. We learned what M and B were by using the data we had for X and Y. But this is just a linear regression, simple algebra. Machine learning can solve way more complex problems than that. Let’s see how.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467c3b5f77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4" name="Google Shape;804;g3467c3b5f77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Now we can represent this function ike a very basic neural network, which looks like this. I’m going to explain each part of this diagram.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467c3b5f77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g3467c3b5f77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These circles are called nodes. Nodes are the variables in our function, and I have highlighted them.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467c3b5f77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9" name="Google Shape;839;g3467c3b5f77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arrows in this function are called “weights”. They are the same as the coefficients we multiply in the function.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467c3b5f77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g3467c3b5f77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So if b = 2, m = 1, and x =4 like before, we can do the math to get y=6.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467c3b5f77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8" name="Google Shape;878;g3467c3b5f77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It looks like this! We’ve added this z node and n weight to the bottom. 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467c3b5f77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9" name="Google Shape;899;g3467c3b5f77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 machine learning, we call this a “hidden node” because we don’t see the value at that node usually. We just see the input and the output. 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467c3b5f77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0" name="Google Shape;920;g3467c3b5f77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And again, to really hammer it in, these weights on the arrows will get learned from the x, y, and z data.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467c3b5f77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" name="Google Shape;949;g3467c3b5f77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We can make these equations more complicated by adding more weights, so more things that we multiply.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467c3b5f77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g3467c3b5f77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We can add more nodes to any of the layers.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467c3b5f77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2" name="Google Shape;1002;g3467c3b5f77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We can even add more layers! So here instead of having one layer of hidden nodes, we now have three layers, making the equations we can do more complicated. 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467c3b5f77_0_1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467c3b5f77_0_1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467c3b5f77_0_2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467c3b5f77_0_2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467c3b5f77_0_2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0" name="Google Shape;1070;g3467c3b5f77_0_2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467c3b5f77_0_2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8" name="Google Shape;1078;g3467c3b5f77_0_2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467c3b5f77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8" name="Google Shape;1088;g3467c3b5f77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 our dataset, we have over 500 thousand syllables to use and analyze, and extrapolating from our dataset ther’s up to 375 million syllables. That’s an astronomical number! And it poses a problem.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3467c3b5f77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0" name="Google Shape;1120;g3467c3b5f77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However, in the last few decades automatic labeling procedures have become a lot more common to try and mitigate this time sink. In short, we decided to use a machine learning framework called TweetyNet which takes in our manual labels and our spectrograms, learns what syllables look like, and then labels predicted syllables.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467c3b5f77_0_1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7" name="Google Shape;1197;g3467c3b5f77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This is a gif schematic of that procedure. I am not going to go into the heavy details, but essentially the program is given a spectogram, as an image. It then passes the image through a neural network with lots of hidden nodes, and finally it predicts where the syllables are.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467c3b5f77_0_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2" name="Google Shape;1212;g3467c3b5f77_0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And it does that labeling orders of magnitude faster than a human can, at about 90% accuracy. With a fully trained tweetynet model, I can annotate all 500 thousand syllables in four hours on my laptop. For all birds, on my laptop, that would take about six weeks -- less time if we set it up on a supercomputer. Not only that, the automatic annotation is consistent and less qualitative than humans, so we can now work at SCALE when analyzing bird songs. So that’s excellent. B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467c3b5f77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9" name="Google Shape;1289;g3467c3b5f77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can also bin this data -- so this is binning by taxonomic groups. The x-axis here is how closely or distantly related things are, with the different bars being order, suborder, family, and so on, down to genus and species. The y-axis is the same as the other plot. And the lines coming out of these bars are standard deviations. 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346f159b7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346f159b7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806824" y="514910"/>
            <a:ext cx="4209000" cy="18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699246" y="2561665"/>
            <a:ext cx="43164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31074" y="4808451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2"/>
          <p:cNvSpPr/>
          <p:nvPr>
            <p:ph idx="2" type="pic"/>
          </p:nvPr>
        </p:nvSpPr>
        <p:spPr>
          <a:xfrm>
            <a:off x="5270500" y="504825"/>
            <a:ext cx="3632100" cy="3952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685800" y="285750"/>
            <a:ext cx="7772400" cy="10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685800" y="1485900"/>
            <a:ext cx="7772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3000"/>
            </a:lvl1pPr>
            <a:lvl2pPr indent="-4191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–"/>
              <a:defRPr sz="3000"/>
            </a:lvl2pPr>
            <a:lvl3pPr indent="-4191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3000"/>
            </a:lvl3pPr>
            <a:lvl4pPr indent="-4191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–"/>
              <a:defRPr sz="3000"/>
            </a:lvl4pPr>
            <a:lvl5pPr indent="-4191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»"/>
              <a:defRPr sz="30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829396" y="4914900"/>
            <a:ext cx="30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13144" y="4805089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17627" y="4808451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Figure and Content">
  <p:cSld name="2_Figur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457200" y="1200150"/>
            <a:ext cx="82296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17627" y="4808451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6"/>
          <p:cNvSpPr/>
          <p:nvPr>
            <p:ph idx="2" type="pic"/>
          </p:nvPr>
        </p:nvSpPr>
        <p:spPr>
          <a:xfrm>
            <a:off x="646112" y="2621756"/>
            <a:ext cx="3481500" cy="6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6"/>
          <p:cNvSpPr/>
          <p:nvPr>
            <p:ph idx="3" type="pic"/>
          </p:nvPr>
        </p:nvSpPr>
        <p:spPr>
          <a:xfrm>
            <a:off x="4562475" y="2621756"/>
            <a:ext cx="3841800" cy="66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722312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722312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13144" y="4805089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13144" y="4805089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457200" y="1151334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645025" y="1151334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13144" y="4805089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13144" y="4805089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457200" y="204788"/>
            <a:ext cx="30084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457199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13144" y="4805089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p1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13144" y="4805089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45700" lIns="45700" spcFirstLastPara="1" rIns="45700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>
            <a:lvl1pPr lv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2769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2769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" name="Google Shape;7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2769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17627" y="4808451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tpL0m5UwpZM" TargetMode="External"/><Relationship Id="rId4" Type="http://schemas.openxmlformats.org/officeDocument/2006/relationships/hyperlink" Target="https://messerlab.org/sli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hyperlink" Target="http://drive.google.com/file/d/1Qyb6ZWg-ZPFy7jw94EdKkOHpqVph9uct/view" TargetMode="External"/><Relationship Id="rId6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gif"/><Relationship Id="rId4" Type="http://schemas.openxmlformats.org/officeDocument/2006/relationships/image" Target="../media/image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125"/>
            <a:ext cx="4572000" cy="5143500"/>
          </a:xfrm>
          <a:prstGeom prst="rect">
            <a:avLst/>
          </a:prstGeom>
          <a:gradFill>
            <a:gsLst>
              <a:gs pos="0">
                <a:srgbClr val="FBEEC1"/>
              </a:gs>
              <a:gs pos="100000">
                <a:srgbClr val="DAAD86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BB0000"/>
                </a:solidFill>
              </a:rPr>
              <a:t> </a:t>
            </a:r>
            <a:endParaRPr sz="2000">
              <a:solidFill>
                <a:srgbClr val="BB0000"/>
              </a:solidFill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4572074" y="125"/>
            <a:ext cx="4572000" cy="5143500"/>
          </a:xfrm>
          <a:prstGeom prst="rect">
            <a:avLst/>
          </a:prstGeom>
          <a:gradFill>
            <a:gsLst>
              <a:gs pos="0">
                <a:srgbClr val="2297E6"/>
              </a:gs>
              <a:gs pos="100000">
                <a:srgbClr val="B5C0D9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Lecture 16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dk1"/>
                </a:solidFill>
              </a:rPr>
              <a:t>Machine Learning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</p:txBody>
      </p:sp>
      <p:grpSp>
        <p:nvGrpSpPr>
          <p:cNvPr id="79" name="Google Shape;79;p17"/>
          <p:cNvGrpSpPr/>
          <p:nvPr/>
        </p:nvGrpSpPr>
        <p:grpSpPr>
          <a:xfrm>
            <a:off x="6001291" y="3596333"/>
            <a:ext cx="1713562" cy="1484366"/>
            <a:chOff x="1205700" y="80997"/>
            <a:chExt cx="5970600" cy="5172006"/>
          </a:xfrm>
        </p:grpSpPr>
        <p:sp>
          <p:nvSpPr>
            <p:cNvPr id="80" name="Google Shape;80;p17"/>
            <p:cNvSpPr/>
            <p:nvPr/>
          </p:nvSpPr>
          <p:spPr>
            <a:xfrm>
              <a:off x="1205700" y="81003"/>
              <a:ext cx="5970600" cy="5172000"/>
            </a:xfrm>
            <a:prstGeom prst="hexagon">
              <a:avLst>
                <a:gd fmla="val 25000" name="adj"/>
                <a:gd fmla="val 115470" name="vf"/>
              </a:avLst>
            </a:prstGeom>
            <a:gradFill>
              <a:gsLst>
                <a:gs pos="0">
                  <a:srgbClr val="FBEEC1"/>
                </a:gs>
                <a:gs pos="100000">
                  <a:srgbClr val="DAAD86"/>
                </a:gs>
              </a:gsLst>
              <a:lin ang="5400012" scaled="0"/>
            </a:gra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7"/>
            <p:cNvSpPr txBox="1"/>
            <p:nvPr/>
          </p:nvSpPr>
          <p:spPr>
            <a:xfrm>
              <a:off x="2553371" y="80997"/>
              <a:ext cx="3275100" cy="7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latin typeface="Courier New"/>
                  <a:ea typeface="Courier New"/>
                  <a:cs typeface="Courier New"/>
                  <a:sym typeface="Courier New"/>
                </a:rPr>
                <a:t>COMP BIO</a:t>
              </a:r>
              <a:endParaRPr b="1" sz="12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82" name="Google Shape;82;p17"/>
          <p:cNvGrpSpPr/>
          <p:nvPr/>
        </p:nvGrpSpPr>
        <p:grpSpPr>
          <a:xfrm>
            <a:off x="6277949" y="3906201"/>
            <a:ext cx="1159752" cy="864274"/>
            <a:chOff x="5243875" y="3295550"/>
            <a:chExt cx="826800" cy="616150"/>
          </a:xfrm>
        </p:grpSpPr>
        <p:sp>
          <p:nvSpPr>
            <p:cNvPr id="83" name="Google Shape;83;p17"/>
            <p:cNvSpPr/>
            <p:nvPr/>
          </p:nvSpPr>
          <p:spPr>
            <a:xfrm>
              <a:off x="5325625" y="3295550"/>
              <a:ext cx="663300" cy="435600"/>
            </a:xfrm>
            <a:prstGeom prst="round2SameRect">
              <a:avLst>
                <a:gd fmla="val 4907" name="adj1"/>
                <a:gd fmla="val 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7"/>
            <p:cNvSpPr/>
            <p:nvPr/>
          </p:nvSpPr>
          <p:spPr>
            <a:xfrm flipH="1" rot="10800000">
              <a:off x="5243875" y="3875400"/>
              <a:ext cx="826800" cy="36300"/>
            </a:xfrm>
            <a:prstGeom prst="round2SameRect">
              <a:avLst>
                <a:gd fmla="val 16667" name="adj1"/>
                <a:gd fmla="val 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7"/>
            <p:cNvSpPr/>
            <p:nvPr/>
          </p:nvSpPr>
          <p:spPr>
            <a:xfrm>
              <a:off x="5244925" y="3731275"/>
              <a:ext cx="824700" cy="144000"/>
            </a:xfrm>
            <a:prstGeom prst="trapezoid">
              <a:avLst>
                <a:gd fmla="val 58090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7"/>
            <p:cNvSpPr/>
            <p:nvPr/>
          </p:nvSpPr>
          <p:spPr>
            <a:xfrm>
              <a:off x="5378100" y="3341700"/>
              <a:ext cx="546600" cy="346800"/>
            </a:xfrm>
            <a:prstGeom prst="rect">
              <a:avLst/>
            </a:prstGeom>
            <a:gradFill>
              <a:gsLst>
                <a:gs pos="0">
                  <a:srgbClr val="8C8C8C"/>
                </a:gs>
                <a:gs pos="100000">
                  <a:srgbClr val="40404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7"/>
            <p:cNvSpPr/>
            <p:nvPr/>
          </p:nvSpPr>
          <p:spPr>
            <a:xfrm>
              <a:off x="5353725" y="37507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7"/>
            <p:cNvSpPr/>
            <p:nvPr/>
          </p:nvSpPr>
          <p:spPr>
            <a:xfrm>
              <a:off x="5423375" y="37507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7"/>
            <p:cNvSpPr/>
            <p:nvPr/>
          </p:nvSpPr>
          <p:spPr>
            <a:xfrm>
              <a:off x="5488275" y="37507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5556150" y="37507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5344200" y="3768625"/>
              <a:ext cx="750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5423049" y="3768625"/>
              <a:ext cx="651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5496523" y="3768625"/>
              <a:ext cx="651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5573385" y="3768625"/>
              <a:ext cx="555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5335875" y="3786475"/>
              <a:ext cx="936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5445065" y="3786475"/>
              <a:ext cx="627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5531252" y="3786475"/>
              <a:ext cx="627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5325625" y="3804325"/>
              <a:ext cx="1344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7"/>
            <p:cNvSpPr/>
            <p:nvPr/>
          </p:nvSpPr>
          <p:spPr>
            <a:xfrm flipH="1" rot="10800000">
              <a:off x="5693130" y="37864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 flipH="1" rot="10800000">
              <a:off x="5855005" y="380432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7"/>
            <p:cNvSpPr/>
            <p:nvPr/>
          </p:nvSpPr>
          <p:spPr>
            <a:xfrm flipH="1" rot="10800000">
              <a:off x="5940030" y="380432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7"/>
            <p:cNvSpPr/>
            <p:nvPr/>
          </p:nvSpPr>
          <p:spPr>
            <a:xfrm flipH="1" rot="10800000">
              <a:off x="5681494" y="3750775"/>
              <a:ext cx="1182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7"/>
            <p:cNvSpPr/>
            <p:nvPr/>
          </p:nvSpPr>
          <p:spPr>
            <a:xfrm flipH="1" rot="10800000">
              <a:off x="5760674" y="3786475"/>
              <a:ext cx="720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7"/>
            <p:cNvSpPr/>
            <p:nvPr/>
          </p:nvSpPr>
          <p:spPr>
            <a:xfrm flipH="1" rot="10800000">
              <a:off x="5841208" y="3786475"/>
              <a:ext cx="651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7"/>
            <p:cNvSpPr/>
            <p:nvPr/>
          </p:nvSpPr>
          <p:spPr>
            <a:xfrm flipH="1" rot="10800000">
              <a:off x="5918071" y="3786475"/>
              <a:ext cx="555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 flipH="1" rot="10800000">
              <a:off x="5705322" y="3768625"/>
              <a:ext cx="1218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7"/>
            <p:cNvSpPr/>
            <p:nvPr/>
          </p:nvSpPr>
          <p:spPr>
            <a:xfrm flipH="1" rot="10800000">
              <a:off x="5832826" y="3768625"/>
              <a:ext cx="627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 flipH="1" rot="10800000">
              <a:off x="5903912" y="3768625"/>
              <a:ext cx="627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7"/>
            <p:cNvSpPr/>
            <p:nvPr/>
          </p:nvSpPr>
          <p:spPr>
            <a:xfrm flipH="1" rot="10800000">
              <a:off x="5821536" y="3750775"/>
              <a:ext cx="1344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5619600" y="3751075"/>
              <a:ext cx="41700" cy="12600"/>
            </a:xfrm>
            <a:prstGeom prst="trapezoid">
              <a:avLst>
                <a:gd fmla="val 25000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5646250" y="3768625"/>
              <a:ext cx="41700" cy="12600"/>
            </a:xfrm>
            <a:prstGeom prst="trapezoid">
              <a:avLst>
                <a:gd fmla="val 25000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5613375" y="3786175"/>
              <a:ext cx="41700" cy="12600"/>
            </a:xfrm>
            <a:prstGeom prst="trapezoid">
              <a:avLst>
                <a:gd fmla="val 25000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5508225" y="3804325"/>
              <a:ext cx="297000" cy="12600"/>
            </a:xfrm>
            <a:prstGeom prst="trapezoid">
              <a:avLst>
                <a:gd fmla="val 75992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5502900" y="3822175"/>
              <a:ext cx="306600" cy="24000"/>
            </a:xfrm>
            <a:prstGeom prst="trapezoid">
              <a:avLst>
                <a:gd fmla="val 49687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17"/>
          <p:cNvGrpSpPr/>
          <p:nvPr/>
        </p:nvGrpSpPr>
        <p:grpSpPr>
          <a:xfrm>
            <a:off x="6636088" y="4023744"/>
            <a:ext cx="443967" cy="376630"/>
            <a:chOff x="3310825" y="3050375"/>
            <a:chExt cx="1546925" cy="1312300"/>
          </a:xfrm>
        </p:grpSpPr>
        <p:sp>
          <p:nvSpPr>
            <p:cNvPr id="116" name="Google Shape;116;p17"/>
            <p:cNvSpPr/>
            <p:nvPr/>
          </p:nvSpPr>
          <p:spPr>
            <a:xfrm>
              <a:off x="3655225" y="3050375"/>
              <a:ext cx="1202525" cy="673900"/>
            </a:xfrm>
            <a:custGeom>
              <a:rect b="b" l="l" r="r" t="t"/>
              <a:pathLst>
                <a:path extrusionOk="0" h="26956" w="48101">
                  <a:moveTo>
                    <a:pt x="37338" y="26956"/>
                  </a:moveTo>
                  <a:lnTo>
                    <a:pt x="0" y="26956"/>
                  </a:lnTo>
                  <a:lnTo>
                    <a:pt x="6001" y="21717"/>
                  </a:lnTo>
                  <a:lnTo>
                    <a:pt x="12287" y="18574"/>
                  </a:lnTo>
                  <a:lnTo>
                    <a:pt x="19621" y="14574"/>
                  </a:lnTo>
                  <a:lnTo>
                    <a:pt x="24193" y="11621"/>
                  </a:lnTo>
                  <a:lnTo>
                    <a:pt x="26003" y="8478"/>
                  </a:lnTo>
                  <a:lnTo>
                    <a:pt x="27527" y="4096"/>
                  </a:lnTo>
                  <a:lnTo>
                    <a:pt x="29813" y="1334"/>
                  </a:lnTo>
                  <a:lnTo>
                    <a:pt x="35814" y="0"/>
                  </a:lnTo>
                  <a:lnTo>
                    <a:pt x="41434" y="953"/>
                  </a:lnTo>
                  <a:lnTo>
                    <a:pt x="42672" y="2667"/>
                  </a:lnTo>
                  <a:lnTo>
                    <a:pt x="43910" y="3334"/>
                  </a:lnTo>
                  <a:lnTo>
                    <a:pt x="45720" y="4763"/>
                  </a:lnTo>
                  <a:lnTo>
                    <a:pt x="48101" y="5906"/>
                  </a:lnTo>
                  <a:lnTo>
                    <a:pt x="43529" y="7239"/>
                  </a:lnTo>
                  <a:lnTo>
                    <a:pt x="42481" y="8001"/>
                  </a:lnTo>
                  <a:lnTo>
                    <a:pt x="38862" y="12288"/>
                  </a:lnTo>
                  <a:lnTo>
                    <a:pt x="39148" y="15240"/>
                  </a:lnTo>
                  <a:lnTo>
                    <a:pt x="38576" y="16764"/>
                  </a:lnTo>
                  <a:lnTo>
                    <a:pt x="38195" y="20574"/>
                  </a:lnTo>
                  <a:lnTo>
                    <a:pt x="38576" y="23432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</p:sp>
        <p:sp>
          <p:nvSpPr>
            <p:cNvPr id="117" name="Google Shape;117;p17"/>
            <p:cNvSpPr/>
            <p:nvPr/>
          </p:nvSpPr>
          <p:spPr>
            <a:xfrm>
              <a:off x="4405225" y="37242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4222825" y="37242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4040425" y="37242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4496425" y="38154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4314025" y="38154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4131625" y="38154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3949225" y="38154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4222825" y="39066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4040425" y="39066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3858025" y="37242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3766825" y="38154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3858025" y="39066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3675625" y="37242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3584425" y="38154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3675625" y="39066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3493225" y="37242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3402025" y="38154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3493225" y="39066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3402025" y="39978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3310825" y="40890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3949225" y="39978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3766825" y="39978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4131625" y="39978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4222825" y="40890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4314025" y="41802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4405225" y="42714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4222825" y="42714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4496425" y="41802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3858025" y="40890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3949225" y="41802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4040425" y="4271475"/>
              <a:ext cx="91200" cy="91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" name="Google Shape;148;p17"/>
          <p:cNvGrpSpPr/>
          <p:nvPr/>
        </p:nvGrpSpPr>
        <p:grpSpPr>
          <a:xfrm>
            <a:off x="478124" y="1345650"/>
            <a:ext cx="3615752" cy="2452200"/>
            <a:chOff x="554324" y="1345650"/>
            <a:chExt cx="3615752" cy="2452200"/>
          </a:xfrm>
        </p:grpSpPr>
        <p:sp>
          <p:nvSpPr>
            <p:cNvPr id="149" name="Google Shape;149;p17"/>
            <p:cNvSpPr/>
            <p:nvPr/>
          </p:nvSpPr>
          <p:spPr>
            <a:xfrm>
              <a:off x="554324" y="2221950"/>
              <a:ext cx="699600" cy="699600"/>
            </a:xfrm>
            <a:prstGeom prst="ellipse">
              <a:avLst/>
            </a:prstGeom>
            <a:solidFill>
              <a:srgbClr val="FFF2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baseline="-2500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3470476" y="2221050"/>
              <a:ext cx="699600" cy="699600"/>
            </a:xfrm>
            <a:prstGeom prst="ellipse">
              <a:avLst/>
            </a:prstGeom>
            <a:solidFill>
              <a:srgbClr val="EAD1D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554324" y="1345650"/>
              <a:ext cx="699600" cy="699600"/>
            </a:xfrm>
            <a:prstGeom prst="ellipse">
              <a:avLst/>
            </a:prstGeom>
            <a:solidFill>
              <a:srgbClr val="FFF2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baseline="-2500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" name="Google Shape;152;p17"/>
            <p:cNvCxnSpPr>
              <a:stCxn id="153" idx="6"/>
              <a:endCxn id="154" idx="2"/>
            </p:cNvCxnSpPr>
            <p:nvPr/>
          </p:nvCxnSpPr>
          <p:spPr>
            <a:xfrm flipH="1" rot="10800000">
              <a:off x="1253924" y="3446250"/>
              <a:ext cx="758400" cy="1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53" name="Google Shape;153;p17"/>
            <p:cNvSpPr/>
            <p:nvPr/>
          </p:nvSpPr>
          <p:spPr>
            <a:xfrm>
              <a:off x="554324" y="3098250"/>
              <a:ext cx="699600" cy="699600"/>
            </a:xfrm>
            <a:prstGeom prst="ellipse">
              <a:avLst/>
            </a:prstGeom>
            <a:solidFill>
              <a:srgbClr val="FFF2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baseline="-2500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2012395" y="2221050"/>
              <a:ext cx="699600" cy="699600"/>
            </a:xfrm>
            <a:prstGeom prst="ellipse">
              <a:avLst/>
            </a:prstGeom>
            <a:solidFill>
              <a:srgbClr val="CFE2F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baseline="-2500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" name="Google Shape;156;p17"/>
            <p:cNvCxnSpPr>
              <a:stCxn id="149" idx="6"/>
              <a:endCxn id="155" idx="2"/>
            </p:cNvCxnSpPr>
            <p:nvPr/>
          </p:nvCxnSpPr>
          <p:spPr>
            <a:xfrm flipH="1" rot="10800000">
              <a:off x="1253924" y="2570850"/>
              <a:ext cx="758400" cy="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7" name="Google Shape;157;p17"/>
            <p:cNvCxnSpPr>
              <a:stCxn id="151" idx="6"/>
              <a:endCxn id="158" idx="2"/>
            </p:cNvCxnSpPr>
            <p:nvPr/>
          </p:nvCxnSpPr>
          <p:spPr>
            <a:xfrm>
              <a:off x="1253924" y="1695450"/>
              <a:ext cx="758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9" name="Google Shape;159;p17"/>
            <p:cNvCxnSpPr>
              <a:stCxn id="155" idx="6"/>
              <a:endCxn id="150" idx="2"/>
            </p:cNvCxnSpPr>
            <p:nvPr/>
          </p:nvCxnSpPr>
          <p:spPr>
            <a:xfrm>
              <a:off x="2711995" y="2570850"/>
              <a:ext cx="758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54" name="Google Shape;154;p17"/>
            <p:cNvSpPr/>
            <p:nvPr/>
          </p:nvSpPr>
          <p:spPr>
            <a:xfrm>
              <a:off x="2012395" y="3096450"/>
              <a:ext cx="699600" cy="699600"/>
            </a:xfrm>
            <a:prstGeom prst="ellipse">
              <a:avLst/>
            </a:prstGeom>
            <a:solidFill>
              <a:srgbClr val="CFE2F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baseline="-2500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2012395" y="1345650"/>
              <a:ext cx="699600" cy="699600"/>
            </a:xfrm>
            <a:prstGeom prst="ellipse">
              <a:avLst/>
            </a:prstGeom>
            <a:solidFill>
              <a:srgbClr val="CFE2F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baseline="-2500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0" name="Google Shape;160;p17"/>
            <p:cNvCxnSpPr>
              <a:stCxn id="151" idx="6"/>
              <a:endCxn id="155" idx="2"/>
            </p:cNvCxnSpPr>
            <p:nvPr/>
          </p:nvCxnSpPr>
          <p:spPr>
            <a:xfrm>
              <a:off x="1253924" y="1695450"/>
              <a:ext cx="758400" cy="875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1" name="Google Shape;161;p17"/>
            <p:cNvCxnSpPr>
              <a:stCxn id="149" idx="6"/>
              <a:endCxn id="154" idx="2"/>
            </p:cNvCxnSpPr>
            <p:nvPr/>
          </p:nvCxnSpPr>
          <p:spPr>
            <a:xfrm>
              <a:off x="1253924" y="2571750"/>
              <a:ext cx="758400" cy="874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2" name="Google Shape;162;p17"/>
            <p:cNvCxnSpPr>
              <a:stCxn id="153" idx="6"/>
              <a:endCxn id="155" idx="2"/>
            </p:cNvCxnSpPr>
            <p:nvPr/>
          </p:nvCxnSpPr>
          <p:spPr>
            <a:xfrm flipH="1" rot="10800000">
              <a:off x="1253924" y="2570850"/>
              <a:ext cx="758400" cy="877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3" name="Google Shape;163;p17"/>
            <p:cNvCxnSpPr>
              <a:stCxn id="149" idx="6"/>
              <a:endCxn id="158" idx="2"/>
            </p:cNvCxnSpPr>
            <p:nvPr/>
          </p:nvCxnSpPr>
          <p:spPr>
            <a:xfrm flipH="1" rot="10800000">
              <a:off x="1253924" y="1695450"/>
              <a:ext cx="758400" cy="876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4" name="Google Shape;164;p17"/>
            <p:cNvCxnSpPr>
              <a:stCxn id="158" idx="6"/>
              <a:endCxn id="150" idx="2"/>
            </p:cNvCxnSpPr>
            <p:nvPr/>
          </p:nvCxnSpPr>
          <p:spPr>
            <a:xfrm>
              <a:off x="2711995" y="1695450"/>
              <a:ext cx="758400" cy="875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5" name="Google Shape;165;p17"/>
            <p:cNvCxnSpPr>
              <a:stCxn id="154" idx="6"/>
              <a:endCxn id="150" idx="2"/>
            </p:cNvCxnSpPr>
            <p:nvPr/>
          </p:nvCxnSpPr>
          <p:spPr>
            <a:xfrm flipH="1" rot="10800000">
              <a:off x="2711995" y="2570850"/>
              <a:ext cx="758400" cy="875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447450" y="526350"/>
            <a:ext cx="8249100" cy="40908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Announcements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Office hours again</a:t>
            </a:r>
            <a:endParaRPr/>
          </a:p>
        </p:txBody>
      </p:sp>
      <p:sp>
        <p:nvSpPr>
          <p:cNvPr id="176" name="Google Shape;176;p19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77" name="Google Shape;177;p19"/>
          <p:cNvSpPr txBox="1"/>
          <p:nvPr>
            <p:ph idx="1" type="body"/>
          </p:nvPr>
        </p:nvSpPr>
        <p:spPr>
          <a:xfrm>
            <a:off x="0" y="572700"/>
            <a:ext cx="9144000" cy="3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Office hours this week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Tuesday 2-3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Wednesday 9:30-11:30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Wednesday 1:30-2:30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Thursday 4-5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Extra resources</a:t>
            </a:r>
            <a:endParaRPr/>
          </a:p>
        </p:txBody>
      </p:sp>
      <p:sp>
        <p:nvSpPr>
          <p:cNvPr id="183" name="Google Shape;183;p20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0" y="572700"/>
            <a:ext cx="9144000" cy="3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David Nicholson- vak: neural network models for acoustic behavior | SciPy 2023</a:t>
            </a:r>
            <a:r>
              <a:rPr lang="en-US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hlinkClick r:id="rId4"/>
              </a:rPr>
              <a:t>Messer Lab – SLiM</a:t>
            </a:r>
            <a:r>
              <a:rPr lang="en-US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447450" y="526350"/>
            <a:ext cx="8249100" cy="40908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Machine Learning?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Machine learning</a:t>
            </a:r>
            <a:endParaRPr/>
          </a:p>
        </p:txBody>
      </p:sp>
      <p:sp>
        <p:nvSpPr>
          <p:cNvPr id="195" name="Google Shape;195;p22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96" name="Google Shape;196;p22"/>
          <p:cNvSpPr txBox="1"/>
          <p:nvPr>
            <p:ph idx="1" type="body"/>
          </p:nvPr>
        </p:nvSpPr>
        <p:spPr>
          <a:xfrm>
            <a:off x="0" y="572700"/>
            <a:ext cx="9144000" cy="3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Machine learning (ML)</a:t>
            </a:r>
            <a:r>
              <a:rPr lang="en-US" sz="2400">
                <a:solidFill>
                  <a:schemeClr val="dk1"/>
                </a:solidFill>
              </a:rPr>
              <a:t>: artificial intelligence that seeks to learn patterns from data and generalize those patterns to new data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Or, extremely advanced statistics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Two main types of ML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" name="Google Shape;202;p23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03" name="Google Shape;203;p23"/>
          <p:cNvSpPr txBox="1"/>
          <p:nvPr>
            <p:ph idx="1" type="body"/>
          </p:nvPr>
        </p:nvSpPr>
        <p:spPr>
          <a:xfrm>
            <a:off x="0" y="572700"/>
            <a:ext cx="9144000" cy="3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Supervised</a:t>
            </a:r>
            <a:r>
              <a:rPr lang="en-US" sz="2400">
                <a:solidFill>
                  <a:schemeClr val="dk1"/>
                </a:solidFill>
              </a:rPr>
              <a:t> machine learning: requires you to label your data so as to learn the patterns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This is most of what we will talk about in this class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Unsupervised </a:t>
            </a:r>
            <a:r>
              <a:rPr lang="en-US" sz="2400">
                <a:solidFill>
                  <a:schemeClr val="dk1"/>
                </a:solidFill>
              </a:rPr>
              <a:t>machine learning: works from unlabeled data to learn patterns. Almost always clustering analyses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K-means clustering is an example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Types of machine </a:t>
            </a:r>
            <a:r>
              <a:rPr lang="en-US">
                <a:solidFill>
                  <a:schemeClr val="dk1"/>
                </a:solidFill>
              </a:rPr>
              <a:t>learning</a:t>
            </a:r>
            <a:r>
              <a:rPr lang="en-US">
                <a:solidFill>
                  <a:schemeClr val="dk1"/>
                </a:solidFill>
              </a:rPr>
              <a:t> algorithms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9" name="Google Shape;209;p24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This is not an exhaustive list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10" name="Google Shape;210;p24"/>
          <p:cNvSpPr txBox="1"/>
          <p:nvPr>
            <p:ph idx="1" type="body"/>
          </p:nvPr>
        </p:nvSpPr>
        <p:spPr>
          <a:xfrm>
            <a:off x="0" y="572700"/>
            <a:ext cx="9144000" cy="3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Artificial neural networks (many types)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Bayesian statistics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Decision tree learning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Maximum entropy classifier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Nearest neighbor algorithm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Support vector machines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Random forests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Linear and logistic regressions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Machine learning in the real world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6" name="Google Shape;216;p25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17" name="Google Shape;217;p25"/>
          <p:cNvSpPr txBox="1"/>
          <p:nvPr>
            <p:ph idx="1" type="body"/>
          </p:nvPr>
        </p:nvSpPr>
        <p:spPr>
          <a:xfrm>
            <a:off x="0" y="572700"/>
            <a:ext cx="9144000" cy="3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Recommendation algorithms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Image recognition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Alexa, Siri, Google Assistant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Suggestions for text messages/emails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447450" y="526350"/>
            <a:ext cx="8249100" cy="40908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ML Concepts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Training, Validation, and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8" name="Google Shape;228;p27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29" name="Google Shape;229;p27"/>
          <p:cNvSpPr txBox="1"/>
          <p:nvPr>
            <p:ph idx="1" type="body"/>
          </p:nvPr>
        </p:nvSpPr>
        <p:spPr>
          <a:xfrm>
            <a:off x="0" y="572700"/>
            <a:ext cx="9144000" cy="3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Training data</a:t>
            </a:r>
            <a:r>
              <a:rPr lang="en-US" sz="2400"/>
              <a:t>: used to teach the model the patterns in your dataset, i.e., train parameters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Validation data</a:t>
            </a:r>
            <a:r>
              <a:rPr lang="en-US" sz="2400"/>
              <a:t>: used to see how well your model is learning, i.e., train hyperparameters (more on this in a moment)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Testing data</a:t>
            </a:r>
            <a:r>
              <a:rPr lang="en-US" sz="2400"/>
              <a:t>: used to see how well your final model actually works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Training, Validation, and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5" name="Google Shape;235;p28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924750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8"/>
          <p:cNvSpPr/>
          <p:nvPr/>
        </p:nvSpPr>
        <p:spPr>
          <a:xfrm>
            <a:off x="6853462" y="1877269"/>
            <a:ext cx="624600" cy="6246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8"/>
          <p:cNvSpPr/>
          <p:nvPr/>
        </p:nvSpPr>
        <p:spPr>
          <a:xfrm>
            <a:off x="7594550" y="1877269"/>
            <a:ext cx="624600" cy="624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8"/>
          <p:cNvSpPr/>
          <p:nvPr/>
        </p:nvSpPr>
        <p:spPr>
          <a:xfrm>
            <a:off x="3148017" y="1877269"/>
            <a:ext cx="624600" cy="624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8"/>
          <p:cNvSpPr/>
          <p:nvPr/>
        </p:nvSpPr>
        <p:spPr>
          <a:xfrm>
            <a:off x="3889106" y="1877269"/>
            <a:ext cx="624600" cy="624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8"/>
          <p:cNvSpPr/>
          <p:nvPr/>
        </p:nvSpPr>
        <p:spPr>
          <a:xfrm>
            <a:off x="4630195" y="1877269"/>
            <a:ext cx="624600" cy="6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8"/>
          <p:cNvSpPr/>
          <p:nvPr/>
        </p:nvSpPr>
        <p:spPr>
          <a:xfrm>
            <a:off x="1665839" y="1877269"/>
            <a:ext cx="624600" cy="624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8"/>
          <p:cNvSpPr/>
          <p:nvPr/>
        </p:nvSpPr>
        <p:spPr>
          <a:xfrm>
            <a:off x="5371284" y="1877269"/>
            <a:ext cx="624600" cy="6246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8"/>
          <p:cNvSpPr/>
          <p:nvPr/>
        </p:nvSpPr>
        <p:spPr>
          <a:xfrm>
            <a:off x="2406928" y="1877269"/>
            <a:ext cx="624600" cy="6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8"/>
          <p:cNvSpPr/>
          <p:nvPr/>
        </p:nvSpPr>
        <p:spPr>
          <a:xfrm>
            <a:off x="6112373" y="1877269"/>
            <a:ext cx="624600" cy="6246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8"/>
          <p:cNvSpPr/>
          <p:nvPr/>
        </p:nvSpPr>
        <p:spPr>
          <a:xfrm>
            <a:off x="9247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"/>
          <p:cNvSpPr/>
          <p:nvPr/>
        </p:nvSpPr>
        <p:spPr>
          <a:xfrm>
            <a:off x="1665850" y="2641631"/>
            <a:ext cx="624600" cy="6246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"/>
          <p:cNvSpPr/>
          <p:nvPr/>
        </p:nvSpPr>
        <p:spPr>
          <a:xfrm>
            <a:off x="2406950" y="2641631"/>
            <a:ext cx="624600" cy="624600"/>
          </a:xfrm>
          <a:prstGeom prst="ellipse">
            <a:avLst/>
          </a:prstGeom>
          <a:solidFill>
            <a:srgbClr val="FCE5C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/>
          <p:nvPr/>
        </p:nvSpPr>
        <p:spPr>
          <a:xfrm>
            <a:off x="3148050" y="2641631"/>
            <a:ext cx="624600" cy="6246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8"/>
          <p:cNvSpPr/>
          <p:nvPr/>
        </p:nvSpPr>
        <p:spPr>
          <a:xfrm>
            <a:off x="3889150" y="2641631"/>
            <a:ext cx="624600" cy="6246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8"/>
          <p:cNvSpPr/>
          <p:nvPr/>
        </p:nvSpPr>
        <p:spPr>
          <a:xfrm>
            <a:off x="4630250" y="2641631"/>
            <a:ext cx="624600" cy="624600"/>
          </a:xfrm>
          <a:prstGeom prst="ellipse">
            <a:avLst/>
          </a:prstGeom>
          <a:solidFill>
            <a:srgbClr val="D0E0E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8"/>
          <p:cNvSpPr/>
          <p:nvPr/>
        </p:nvSpPr>
        <p:spPr>
          <a:xfrm>
            <a:off x="5371350" y="2641631"/>
            <a:ext cx="624600" cy="6246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6112450" y="2641631"/>
            <a:ext cx="624600" cy="624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"/>
          <p:cNvSpPr/>
          <p:nvPr/>
        </p:nvSpPr>
        <p:spPr>
          <a:xfrm>
            <a:off x="6853550" y="2641631"/>
            <a:ext cx="624600" cy="6246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8"/>
          <p:cNvSpPr/>
          <p:nvPr/>
        </p:nvSpPr>
        <p:spPr>
          <a:xfrm>
            <a:off x="7594650" y="2641631"/>
            <a:ext cx="624600" cy="6246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8"/>
          <p:cNvSpPr txBox="1"/>
          <p:nvPr>
            <p:ph idx="1" type="body"/>
          </p:nvPr>
        </p:nvSpPr>
        <p:spPr>
          <a:xfrm>
            <a:off x="0" y="572700"/>
            <a:ext cx="91440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Train an algorithm to distinguish between circles and squares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Training, Validation, and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" name="Google Shape;262;p29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Note: 80-10-10 is a common way to split these data, but it’s more complicated than this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924750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9"/>
          <p:cNvSpPr/>
          <p:nvPr/>
        </p:nvSpPr>
        <p:spPr>
          <a:xfrm>
            <a:off x="6853462" y="1877269"/>
            <a:ext cx="624600" cy="624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9"/>
          <p:cNvSpPr/>
          <p:nvPr/>
        </p:nvSpPr>
        <p:spPr>
          <a:xfrm>
            <a:off x="7594550" y="1877269"/>
            <a:ext cx="624600" cy="6246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3148017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9"/>
          <p:cNvSpPr/>
          <p:nvPr/>
        </p:nvSpPr>
        <p:spPr>
          <a:xfrm>
            <a:off x="3889106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9"/>
          <p:cNvSpPr/>
          <p:nvPr/>
        </p:nvSpPr>
        <p:spPr>
          <a:xfrm>
            <a:off x="4630195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9"/>
          <p:cNvSpPr/>
          <p:nvPr/>
        </p:nvSpPr>
        <p:spPr>
          <a:xfrm>
            <a:off x="1665839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9"/>
          <p:cNvSpPr/>
          <p:nvPr/>
        </p:nvSpPr>
        <p:spPr>
          <a:xfrm>
            <a:off x="5371284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9"/>
          <p:cNvSpPr/>
          <p:nvPr/>
        </p:nvSpPr>
        <p:spPr>
          <a:xfrm>
            <a:off x="2406928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9"/>
          <p:cNvSpPr/>
          <p:nvPr/>
        </p:nvSpPr>
        <p:spPr>
          <a:xfrm>
            <a:off x="6112373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9247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9"/>
          <p:cNvSpPr/>
          <p:nvPr/>
        </p:nvSpPr>
        <p:spPr>
          <a:xfrm>
            <a:off x="16658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24069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9"/>
          <p:cNvSpPr/>
          <p:nvPr/>
        </p:nvSpPr>
        <p:spPr>
          <a:xfrm>
            <a:off x="31480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38891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9"/>
          <p:cNvSpPr/>
          <p:nvPr/>
        </p:nvSpPr>
        <p:spPr>
          <a:xfrm>
            <a:off x="46302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/>
          <p:nvPr/>
        </p:nvSpPr>
        <p:spPr>
          <a:xfrm>
            <a:off x="53713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9"/>
          <p:cNvSpPr/>
          <p:nvPr/>
        </p:nvSpPr>
        <p:spPr>
          <a:xfrm>
            <a:off x="61124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9"/>
          <p:cNvSpPr/>
          <p:nvPr/>
        </p:nvSpPr>
        <p:spPr>
          <a:xfrm>
            <a:off x="6853550" y="2641631"/>
            <a:ext cx="624600" cy="624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9"/>
          <p:cNvSpPr/>
          <p:nvPr/>
        </p:nvSpPr>
        <p:spPr>
          <a:xfrm>
            <a:off x="7594650" y="2641631"/>
            <a:ext cx="624600" cy="6246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9"/>
          <p:cNvSpPr txBox="1"/>
          <p:nvPr>
            <p:ph idx="1" type="body"/>
          </p:nvPr>
        </p:nvSpPr>
        <p:spPr>
          <a:xfrm>
            <a:off x="0" y="572700"/>
            <a:ext cx="91440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80% of your data are set to training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10% to validation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10% to testing</a:t>
            </a:r>
            <a:endParaRPr sz="2400"/>
          </a:p>
        </p:txBody>
      </p:sp>
      <p:sp>
        <p:nvSpPr>
          <p:cNvPr id="284" name="Google Shape;284;p29"/>
          <p:cNvSpPr/>
          <p:nvPr/>
        </p:nvSpPr>
        <p:spPr>
          <a:xfrm flipH="1" rot="-5400000">
            <a:off x="3544275" y="753400"/>
            <a:ext cx="572700" cy="5829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3251625" y="3954400"/>
            <a:ext cx="11580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</a:t>
            </a:r>
            <a:r>
              <a:rPr lang="en-US">
                <a:solidFill>
                  <a:schemeClr val="dk1"/>
                </a:solidFill>
              </a:rPr>
              <a:t>rain</a:t>
            </a:r>
            <a:endParaRPr/>
          </a:p>
        </p:txBody>
      </p:sp>
      <p:sp>
        <p:nvSpPr>
          <p:cNvPr id="286" name="Google Shape;286;p29"/>
          <p:cNvSpPr/>
          <p:nvPr/>
        </p:nvSpPr>
        <p:spPr>
          <a:xfrm flipH="1" rot="-5400000">
            <a:off x="6883900" y="3351250"/>
            <a:ext cx="572700" cy="633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9"/>
          <p:cNvSpPr/>
          <p:nvPr/>
        </p:nvSpPr>
        <p:spPr>
          <a:xfrm flipH="1" rot="-5400000">
            <a:off x="7616065" y="3351250"/>
            <a:ext cx="572700" cy="633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9"/>
          <p:cNvSpPr txBox="1"/>
          <p:nvPr/>
        </p:nvSpPr>
        <p:spPr>
          <a:xfrm>
            <a:off x="6591250" y="3954400"/>
            <a:ext cx="11580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Validate</a:t>
            </a:r>
            <a:endParaRPr/>
          </a:p>
        </p:txBody>
      </p:sp>
      <p:sp>
        <p:nvSpPr>
          <p:cNvPr id="289" name="Google Shape;289;p29"/>
          <p:cNvSpPr txBox="1"/>
          <p:nvPr/>
        </p:nvSpPr>
        <p:spPr>
          <a:xfrm>
            <a:off x="7327950" y="3954400"/>
            <a:ext cx="11580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Test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Training, Validation, and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5" name="Google Shape;295;p30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924750" y="1877272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0"/>
          <p:cNvSpPr/>
          <p:nvPr/>
        </p:nvSpPr>
        <p:spPr>
          <a:xfrm>
            <a:off x="3712988" y="1877272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0"/>
          <p:cNvSpPr/>
          <p:nvPr/>
        </p:nvSpPr>
        <p:spPr>
          <a:xfrm>
            <a:off x="7594550" y="1877269"/>
            <a:ext cx="624600" cy="6246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0"/>
          <p:cNvSpPr/>
          <p:nvPr/>
        </p:nvSpPr>
        <p:spPr>
          <a:xfrm>
            <a:off x="1970339" y="1877272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0"/>
          <p:cNvSpPr/>
          <p:nvPr/>
        </p:nvSpPr>
        <p:spPr>
          <a:xfrm>
            <a:off x="2318869" y="1877272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0"/>
          <p:cNvSpPr/>
          <p:nvPr/>
        </p:nvSpPr>
        <p:spPr>
          <a:xfrm>
            <a:off x="2667399" y="1877272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0"/>
          <p:cNvSpPr/>
          <p:nvPr/>
        </p:nvSpPr>
        <p:spPr>
          <a:xfrm>
            <a:off x="1273280" y="1877272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0"/>
          <p:cNvSpPr/>
          <p:nvPr/>
        </p:nvSpPr>
        <p:spPr>
          <a:xfrm>
            <a:off x="3015928" y="1877272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0"/>
          <p:cNvSpPr/>
          <p:nvPr/>
        </p:nvSpPr>
        <p:spPr>
          <a:xfrm>
            <a:off x="1621809" y="1877272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0"/>
          <p:cNvSpPr/>
          <p:nvPr/>
        </p:nvSpPr>
        <p:spPr>
          <a:xfrm>
            <a:off x="3364458" y="1877272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0"/>
          <p:cNvSpPr/>
          <p:nvPr/>
        </p:nvSpPr>
        <p:spPr>
          <a:xfrm>
            <a:off x="924750" y="2236749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0"/>
          <p:cNvSpPr/>
          <p:nvPr/>
        </p:nvSpPr>
        <p:spPr>
          <a:xfrm>
            <a:off x="1273285" y="2236749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0"/>
          <p:cNvSpPr/>
          <p:nvPr/>
        </p:nvSpPr>
        <p:spPr>
          <a:xfrm>
            <a:off x="1621820" y="2236749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0"/>
          <p:cNvSpPr/>
          <p:nvPr/>
        </p:nvSpPr>
        <p:spPr>
          <a:xfrm>
            <a:off x="1970355" y="2236749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"/>
          <p:cNvSpPr/>
          <p:nvPr/>
        </p:nvSpPr>
        <p:spPr>
          <a:xfrm>
            <a:off x="2318890" y="2236749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0"/>
          <p:cNvSpPr/>
          <p:nvPr/>
        </p:nvSpPr>
        <p:spPr>
          <a:xfrm>
            <a:off x="2667425" y="2236749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3015960" y="2236749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3364494" y="2236749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0"/>
          <p:cNvSpPr/>
          <p:nvPr/>
        </p:nvSpPr>
        <p:spPr>
          <a:xfrm>
            <a:off x="3713029" y="2236749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0"/>
          <p:cNvSpPr/>
          <p:nvPr/>
        </p:nvSpPr>
        <p:spPr>
          <a:xfrm>
            <a:off x="7594650" y="2641631"/>
            <a:ext cx="624600" cy="6246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0" y="573600"/>
            <a:ext cx="91440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Cross-validation</a:t>
            </a:r>
            <a:r>
              <a:rPr lang="en-US" sz="2400"/>
              <a:t> can also be used so that you have a combined training-validation dataset</a:t>
            </a:r>
            <a:endParaRPr sz="2400"/>
          </a:p>
        </p:txBody>
      </p:sp>
      <p:sp>
        <p:nvSpPr>
          <p:cNvPr id="317" name="Google Shape;317;p30"/>
          <p:cNvSpPr/>
          <p:nvPr/>
        </p:nvSpPr>
        <p:spPr>
          <a:xfrm>
            <a:off x="924738" y="26766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3712975" y="26766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1970327" y="2676647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0"/>
          <p:cNvSpPr/>
          <p:nvPr/>
        </p:nvSpPr>
        <p:spPr>
          <a:xfrm>
            <a:off x="2318856" y="2676647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0"/>
          <p:cNvSpPr/>
          <p:nvPr/>
        </p:nvSpPr>
        <p:spPr>
          <a:xfrm>
            <a:off x="2667386" y="2676647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0"/>
          <p:cNvSpPr/>
          <p:nvPr/>
        </p:nvSpPr>
        <p:spPr>
          <a:xfrm>
            <a:off x="1273267" y="26766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0"/>
          <p:cNvSpPr/>
          <p:nvPr/>
        </p:nvSpPr>
        <p:spPr>
          <a:xfrm>
            <a:off x="3015916" y="26766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0"/>
          <p:cNvSpPr/>
          <p:nvPr/>
        </p:nvSpPr>
        <p:spPr>
          <a:xfrm>
            <a:off x="1621797" y="26766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3364446" y="26766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924738" y="30361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0"/>
          <p:cNvSpPr/>
          <p:nvPr/>
        </p:nvSpPr>
        <p:spPr>
          <a:xfrm>
            <a:off x="1273272" y="30361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0"/>
          <p:cNvSpPr/>
          <p:nvPr/>
        </p:nvSpPr>
        <p:spPr>
          <a:xfrm>
            <a:off x="1621807" y="30361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0"/>
          <p:cNvSpPr/>
          <p:nvPr/>
        </p:nvSpPr>
        <p:spPr>
          <a:xfrm>
            <a:off x="1970342" y="3036124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0"/>
          <p:cNvSpPr/>
          <p:nvPr/>
        </p:nvSpPr>
        <p:spPr>
          <a:xfrm>
            <a:off x="2318877" y="3036124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0"/>
          <p:cNvSpPr/>
          <p:nvPr/>
        </p:nvSpPr>
        <p:spPr>
          <a:xfrm>
            <a:off x="2667412" y="3036124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0"/>
          <p:cNvSpPr/>
          <p:nvPr/>
        </p:nvSpPr>
        <p:spPr>
          <a:xfrm>
            <a:off x="3015947" y="30361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3364482" y="30361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3713017" y="30361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924700" y="3510147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0"/>
          <p:cNvSpPr/>
          <p:nvPr/>
        </p:nvSpPr>
        <p:spPr>
          <a:xfrm>
            <a:off x="3712938" y="35101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0"/>
          <p:cNvSpPr/>
          <p:nvPr/>
        </p:nvSpPr>
        <p:spPr>
          <a:xfrm>
            <a:off x="1970289" y="35101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0"/>
          <p:cNvSpPr/>
          <p:nvPr/>
        </p:nvSpPr>
        <p:spPr>
          <a:xfrm>
            <a:off x="2318819" y="35101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0"/>
          <p:cNvSpPr/>
          <p:nvPr/>
        </p:nvSpPr>
        <p:spPr>
          <a:xfrm>
            <a:off x="2667349" y="35101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0"/>
          <p:cNvSpPr/>
          <p:nvPr/>
        </p:nvSpPr>
        <p:spPr>
          <a:xfrm>
            <a:off x="1273230" y="3510147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3015878" y="35101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0"/>
          <p:cNvSpPr/>
          <p:nvPr/>
        </p:nvSpPr>
        <p:spPr>
          <a:xfrm>
            <a:off x="1621759" y="3510147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0"/>
          <p:cNvSpPr/>
          <p:nvPr/>
        </p:nvSpPr>
        <p:spPr>
          <a:xfrm>
            <a:off x="3364408" y="35101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0"/>
          <p:cNvSpPr/>
          <p:nvPr/>
        </p:nvSpPr>
        <p:spPr>
          <a:xfrm>
            <a:off x="924700" y="3869624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0"/>
          <p:cNvSpPr/>
          <p:nvPr/>
        </p:nvSpPr>
        <p:spPr>
          <a:xfrm>
            <a:off x="1273235" y="3869624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0"/>
          <p:cNvSpPr/>
          <p:nvPr/>
        </p:nvSpPr>
        <p:spPr>
          <a:xfrm>
            <a:off x="1621770" y="3869624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0"/>
          <p:cNvSpPr/>
          <p:nvPr/>
        </p:nvSpPr>
        <p:spPr>
          <a:xfrm>
            <a:off x="1970305" y="38696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0"/>
          <p:cNvSpPr/>
          <p:nvPr/>
        </p:nvSpPr>
        <p:spPr>
          <a:xfrm>
            <a:off x="2318840" y="38696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0"/>
          <p:cNvSpPr/>
          <p:nvPr/>
        </p:nvSpPr>
        <p:spPr>
          <a:xfrm>
            <a:off x="2667375" y="38696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0"/>
          <p:cNvSpPr/>
          <p:nvPr/>
        </p:nvSpPr>
        <p:spPr>
          <a:xfrm>
            <a:off x="3015910" y="38696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0"/>
          <p:cNvSpPr/>
          <p:nvPr/>
        </p:nvSpPr>
        <p:spPr>
          <a:xfrm>
            <a:off x="3364444" y="38696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0"/>
          <p:cNvSpPr/>
          <p:nvPr/>
        </p:nvSpPr>
        <p:spPr>
          <a:xfrm>
            <a:off x="3712979" y="38696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0"/>
          <p:cNvSpPr/>
          <p:nvPr/>
        </p:nvSpPr>
        <p:spPr>
          <a:xfrm flipH="1" rot="-5400000">
            <a:off x="7616065" y="3351250"/>
            <a:ext cx="572700" cy="633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0"/>
          <p:cNvSpPr txBox="1"/>
          <p:nvPr/>
        </p:nvSpPr>
        <p:spPr>
          <a:xfrm>
            <a:off x="7327950" y="3954400"/>
            <a:ext cx="11580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Test</a:t>
            </a:r>
            <a:endParaRPr/>
          </a:p>
        </p:txBody>
      </p:sp>
      <p:sp>
        <p:nvSpPr>
          <p:cNvPr id="355" name="Google Shape;355;p30"/>
          <p:cNvSpPr/>
          <p:nvPr/>
        </p:nvSpPr>
        <p:spPr>
          <a:xfrm>
            <a:off x="4201350" y="1877272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0"/>
          <p:cNvSpPr/>
          <p:nvPr/>
        </p:nvSpPr>
        <p:spPr>
          <a:xfrm>
            <a:off x="6989588" y="1877272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0"/>
          <p:cNvSpPr/>
          <p:nvPr/>
        </p:nvSpPr>
        <p:spPr>
          <a:xfrm>
            <a:off x="5246939" y="1877272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0"/>
          <p:cNvSpPr/>
          <p:nvPr/>
        </p:nvSpPr>
        <p:spPr>
          <a:xfrm>
            <a:off x="5595469" y="1877272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0"/>
          <p:cNvSpPr/>
          <p:nvPr/>
        </p:nvSpPr>
        <p:spPr>
          <a:xfrm>
            <a:off x="5943999" y="1877272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0"/>
          <p:cNvSpPr/>
          <p:nvPr/>
        </p:nvSpPr>
        <p:spPr>
          <a:xfrm>
            <a:off x="4549880" y="1877272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0"/>
          <p:cNvSpPr/>
          <p:nvPr/>
        </p:nvSpPr>
        <p:spPr>
          <a:xfrm>
            <a:off x="6292528" y="1877272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0"/>
          <p:cNvSpPr/>
          <p:nvPr/>
        </p:nvSpPr>
        <p:spPr>
          <a:xfrm>
            <a:off x="4898409" y="1877272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0"/>
          <p:cNvSpPr/>
          <p:nvPr/>
        </p:nvSpPr>
        <p:spPr>
          <a:xfrm>
            <a:off x="6641058" y="1877272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0"/>
          <p:cNvSpPr/>
          <p:nvPr/>
        </p:nvSpPr>
        <p:spPr>
          <a:xfrm>
            <a:off x="4201350" y="2236749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0"/>
          <p:cNvSpPr/>
          <p:nvPr/>
        </p:nvSpPr>
        <p:spPr>
          <a:xfrm>
            <a:off x="4549885" y="2236749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0"/>
          <p:cNvSpPr/>
          <p:nvPr/>
        </p:nvSpPr>
        <p:spPr>
          <a:xfrm>
            <a:off x="4898420" y="2236749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0"/>
          <p:cNvSpPr/>
          <p:nvPr/>
        </p:nvSpPr>
        <p:spPr>
          <a:xfrm>
            <a:off x="5246955" y="2236749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0"/>
          <p:cNvSpPr/>
          <p:nvPr/>
        </p:nvSpPr>
        <p:spPr>
          <a:xfrm>
            <a:off x="5595490" y="2236749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0"/>
          <p:cNvSpPr/>
          <p:nvPr/>
        </p:nvSpPr>
        <p:spPr>
          <a:xfrm>
            <a:off x="5944025" y="2236749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0"/>
          <p:cNvSpPr/>
          <p:nvPr/>
        </p:nvSpPr>
        <p:spPr>
          <a:xfrm>
            <a:off x="6292560" y="2236749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0"/>
          <p:cNvSpPr/>
          <p:nvPr/>
        </p:nvSpPr>
        <p:spPr>
          <a:xfrm>
            <a:off x="6641094" y="2236749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0"/>
          <p:cNvSpPr/>
          <p:nvPr/>
        </p:nvSpPr>
        <p:spPr>
          <a:xfrm>
            <a:off x="6989629" y="2236749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0"/>
          <p:cNvSpPr/>
          <p:nvPr/>
        </p:nvSpPr>
        <p:spPr>
          <a:xfrm>
            <a:off x="4201338" y="26766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0"/>
          <p:cNvSpPr/>
          <p:nvPr/>
        </p:nvSpPr>
        <p:spPr>
          <a:xfrm>
            <a:off x="6989575" y="26766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0"/>
          <p:cNvSpPr/>
          <p:nvPr/>
        </p:nvSpPr>
        <p:spPr>
          <a:xfrm>
            <a:off x="5246927" y="26766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0"/>
          <p:cNvSpPr/>
          <p:nvPr/>
        </p:nvSpPr>
        <p:spPr>
          <a:xfrm>
            <a:off x="5595456" y="2676647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0"/>
          <p:cNvSpPr/>
          <p:nvPr/>
        </p:nvSpPr>
        <p:spPr>
          <a:xfrm>
            <a:off x="5943986" y="26766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0"/>
          <p:cNvSpPr/>
          <p:nvPr/>
        </p:nvSpPr>
        <p:spPr>
          <a:xfrm>
            <a:off x="4549867" y="2676647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0"/>
          <p:cNvSpPr/>
          <p:nvPr/>
        </p:nvSpPr>
        <p:spPr>
          <a:xfrm>
            <a:off x="6292516" y="26766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0"/>
          <p:cNvSpPr/>
          <p:nvPr/>
        </p:nvSpPr>
        <p:spPr>
          <a:xfrm>
            <a:off x="4898397" y="26766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0"/>
          <p:cNvSpPr/>
          <p:nvPr/>
        </p:nvSpPr>
        <p:spPr>
          <a:xfrm>
            <a:off x="6641046" y="2676647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0"/>
          <p:cNvSpPr/>
          <p:nvPr/>
        </p:nvSpPr>
        <p:spPr>
          <a:xfrm>
            <a:off x="4201338" y="30361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0"/>
          <p:cNvSpPr/>
          <p:nvPr/>
        </p:nvSpPr>
        <p:spPr>
          <a:xfrm>
            <a:off x="4549872" y="3036124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0"/>
          <p:cNvSpPr/>
          <p:nvPr/>
        </p:nvSpPr>
        <p:spPr>
          <a:xfrm>
            <a:off x="4898407" y="30361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0"/>
          <p:cNvSpPr/>
          <p:nvPr/>
        </p:nvSpPr>
        <p:spPr>
          <a:xfrm>
            <a:off x="5246942" y="30361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0"/>
          <p:cNvSpPr/>
          <p:nvPr/>
        </p:nvSpPr>
        <p:spPr>
          <a:xfrm>
            <a:off x="5595477" y="3036124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0"/>
          <p:cNvSpPr/>
          <p:nvPr/>
        </p:nvSpPr>
        <p:spPr>
          <a:xfrm>
            <a:off x="5944012" y="30361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0"/>
          <p:cNvSpPr/>
          <p:nvPr/>
        </p:nvSpPr>
        <p:spPr>
          <a:xfrm>
            <a:off x="6292547" y="30361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0"/>
          <p:cNvSpPr/>
          <p:nvPr/>
        </p:nvSpPr>
        <p:spPr>
          <a:xfrm>
            <a:off x="6641082" y="3036124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0"/>
          <p:cNvSpPr/>
          <p:nvPr/>
        </p:nvSpPr>
        <p:spPr>
          <a:xfrm>
            <a:off x="6989617" y="30361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0"/>
          <p:cNvSpPr/>
          <p:nvPr/>
        </p:nvSpPr>
        <p:spPr>
          <a:xfrm>
            <a:off x="4201300" y="35101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0"/>
          <p:cNvSpPr/>
          <p:nvPr/>
        </p:nvSpPr>
        <p:spPr>
          <a:xfrm>
            <a:off x="6989538" y="3510147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0"/>
          <p:cNvSpPr/>
          <p:nvPr/>
        </p:nvSpPr>
        <p:spPr>
          <a:xfrm>
            <a:off x="5246889" y="35101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0"/>
          <p:cNvSpPr/>
          <p:nvPr/>
        </p:nvSpPr>
        <p:spPr>
          <a:xfrm>
            <a:off x="5595419" y="35101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0"/>
          <p:cNvSpPr/>
          <p:nvPr/>
        </p:nvSpPr>
        <p:spPr>
          <a:xfrm>
            <a:off x="5943949" y="3510147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0"/>
          <p:cNvSpPr/>
          <p:nvPr/>
        </p:nvSpPr>
        <p:spPr>
          <a:xfrm>
            <a:off x="4549830" y="35101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0"/>
          <p:cNvSpPr/>
          <p:nvPr/>
        </p:nvSpPr>
        <p:spPr>
          <a:xfrm>
            <a:off x="6292478" y="35101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0"/>
          <p:cNvSpPr/>
          <p:nvPr/>
        </p:nvSpPr>
        <p:spPr>
          <a:xfrm>
            <a:off x="4898359" y="3510147"/>
            <a:ext cx="293700" cy="293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0"/>
          <p:cNvSpPr/>
          <p:nvPr/>
        </p:nvSpPr>
        <p:spPr>
          <a:xfrm>
            <a:off x="6641008" y="3510147"/>
            <a:ext cx="293700" cy="293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0"/>
          <p:cNvSpPr/>
          <p:nvPr/>
        </p:nvSpPr>
        <p:spPr>
          <a:xfrm>
            <a:off x="4201300" y="38696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0"/>
          <p:cNvSpPr/>
          <p:nvPr/>
        </p:nvSpPr>
        <p:spPr>
          <a:xfrm>
            <a:off x="4549835" y="38696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0"/>
          <p:cNvSpPr/>
          <p:nvPr/>
        </p:nvSpPr>
        <p:spPr>
          <a:xfrm>
            <a:off x="4898370" y="3869624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0"/>
          <p:cNvSpPr/>
          <p:nvPr/>
        </p:nvSpPr>
        <p:spPr>
          <a:xfrm>
            <a:off x="5246905" y="38696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0"/>
          <p:cNvSpPr/>
          <p:nvPr/>
        </p:nvSpPr>
        <p:spPr>
          <a:xfrm>
            <a:off x="5595440" y="38696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0"/>
          <p:cNvSpPr/>
          <p:nvPr/>
        </p:nvSpPr>
        <p:spPr>
          <a:xfrm>
            <a:off x="5943975" y="3869624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0"/>
          <p:cNvSpPr/>
          <p:nvPr/>
        </p:nvSpPr>
        <p:spPr>
          <a:xfrm>
            <a:off x="6292510" y="38696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0"/>
          <p:cNvSpPr/>
          <p:nvPr/>
        </p:nvSpPr>
        <p:spPr>
          <a:xfrm>
            <a:off x="6641044" y="3869624"/>
            <a:ext cx="293700" cy="293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0"/>
          <p:cNvSpPr/>
          <p:nvPr/>
        </p:nvSpPr>
        <p:spPr>
          <a:xfrm>
            <a:off x="6989579" y="3869624"/>
            <a:ext cx="293700" cy="293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Training, Validation, and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4" name="Google Shape;414;p31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415" name="Google Shape;415;p31"/>
          <p:cNvSpPr txBox="1"/>
          <p:nvPr/>
        </p:nvSpPr>
        <p:spPr>
          <a:xfrm>
            <a:off x="0" y="573600"/>
            <a:ext cx="9144000" cy="13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You need to make sure when you split things into your training/validation/test datasets, you do so in a </a:t>
            </a:r>
            <a:r>
              <a:rPr b="1" lang="en-US" sz="2400"/>
              <a:t>balanced </a:t>
            </a:r>
            <a:r>
              <a:rPr lang="en-US" sz="2400"/>
              <a:t>way. </a:t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Here: split squares, circles, and triangles.</a:t>
            </a:r>
            <a:endParaRPr/>
          </a:p>
        </p:txBody>
      </p:sp>
      <p:sp>
        <p:nvSpPr>
          <p:cNvPr id="416" name="Google Shape;416;p31"/>
          <p:cNvSpPr/>
          <p:nvPr/>
        </p:nvSpPr>
        <p:spPr>
          <a:xfrm>
            <a:off x="924750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1"/>
          <p:cNvSpPr/>
          <p:nvPr/>
        </p:nvSpPr>
        <p:spPr>
          <a:xfrm>
            <a:off x="6853462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1"/>
          <p:cNvSpPr/>
          <p:nvPr/>
        </p:nvSpPr>
        <p:spPr>
          <a:xfrm>
            <a:off x="7594550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1"/>
          <p:cNvSpPr/>
          <p:nvPr/>
        </p:nvSpPr>
        <p:spPr>
          <a:xfrm>
            <a:off x="3148017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1"/>
          <p:cNvSpPr/>
          <p:nvPr/>
        </p:nvSpPr>
        <p:spPr>
          <a:xfrm>
            <a:off x="3889106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1"/>
          <p:cNvSpPr/>
          <p:nvPr/>
        </p:nvSpPr>
        <p:spPr>
          <a:xfrm>
            <a:off x="4630195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1"/>
          <p:cNvSpPr/>
          <p:nvPr/>
        </p:nvSpPr>
        <p:spPr>
          <a:xfrm>
            <a:off x="1665839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1"/>
          <p:cNvSpPr/>
          <p:nvPr/>
        </p:nvSpPr>
        <p:spPr>
          <a:xfrm>
            <a:off x="5371284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1"/>
          <p:cNvSpPr/>
          <p:nvPr/>
        </p:nvSpPr>
        <p:spPr>
          <a:xfrm>
            <a:off x="2406928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1"/>
          <p:cNvSpPr/>
          <p:nvPr/>
        </p:nvSpPr>
        <p:spPr>
          <a:xfrm>
            <a:off x="6112373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1"/>
          <p:cNvSpPr/>
          <p:nvPr/>
        </p:nvSpPr>
        <p:spPr>
          <a:xfrm>
            <a:off x="9247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1"/>
          <p:cNvSpPr/>
          <p:nvPr/>
        </p:nvSpPr>
        <p:spPr>
          <a:xfrm>
            <a:off x="16658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1"/>
          <p:cNvSpPr/>
          <p:nvPr/>
        </p:nvSpPr>
        <p:spPr>
          <a:xfrm>
            <a:off x="24069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1"/>
          <p:cNvSpPr/>
          <p:nvPr/>
        </p:nvSpPr>
        <p:spPr>
          <a:xfrm>
            <a:off x="31480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1"/>
          <p:cNvSpPr/>
          <p:nvPr/>
        </p:nvSpPr>
        <p:spPr>
          <a:xfrm>
            <a:off x="38891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1"/>
          <p:cNvSpPr/>
          <p:nvPr/>
        </p:nvSpPr>
        <p:spPr>
          <a:xfrm>
            <a:off x="46302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1"/>
          <p:cNvSpPr/>
          <p:nvPr/>
        </p:nvSpPr>
        <p:spPr>
          <a:xfrm>
            <a:off x="53713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1"/>
          <p:cNvSpPr/>
          <p:nvPr/>
        </p:nvSpPr>
        <p:spPr>
          <a:xfrm>
            <a:off x="61124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1"/>
          <p:cNvSpPr/>
          <p:nvPr/>
        </p:nvSpPr>
        <p:spPr>
          <a:xfrm>
            <a:off x="68535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1"/>
          <p:cNvSpPr/>
          <p:nvPr/>
        </p:nvSpPr>
        <p:spPr>
          <a:xfrm>
            <a:off x="75946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1"/>
          <p:cNvSpPr/>
          <p:nvPr/>
        </p:nvSpPr>
        <p:spPr>
          <a:xfrm>
            <a:off x="9247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1"/>
          <p:cNvSpPr/>
          <p:nvPr/>
        </p:nvSpPr>
        <p:spPr>
          <a:xfrm>
            <a:off x="16658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1"/>
          <p:cNvSpPr/>
          <p:nvPr/>
        </p:nvSpPr>
        <p:spPr>
          <a:xfrm>
            <a:off x="24069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1"/>
          <p:cNvSpPr/>
          <p:nvPr/>
        </p:nvSpPr>
        <p:spPr>
          <a:xfrm>
            <a:off x="31480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1"/>
          <p:cNvSpPr/>
          <p:nvPr/>
        </p:nvSpPr>
        <p:spPr>
          <a:xfrm>
            <a:off x="386880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1"/>
          <p:cNvSpPr/>
          <p:nvPr/>
        </p:nvSpPr>
        <p:spPr>
          <a:xfrm>
            <a:off x="46302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1"/>
          <p:cNvSpPr/>
          <p:nvPr/>
        </p:nvSpPr>
        <p:spPr>
          <a:xfrm>
            <a:off x="53713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1"/>
          <p:cNvSpPr/>
          <p:nvPr/>
        </p:nvSpPr>
        <p:spPr>
          <a:xfrm>
            <a:off x="61124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1"/>
          <p:cNvSpPr/>
          <p:nvPr/>
        </p:nvSpPr>
        <p:spPr>
          <a:xfrm>
            <a:off x="68535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1"/>
          <p:cNvSpPr/>
          <p:nvPr/>
        </p:nvSpPr>
        <p:spPr>
          <a:xfrm>
            <a:off x="75946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Training, Validation, and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1" name="Google Shape;451;p32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452" name="Google Shape;452;p32"/>
          <p:cNvSpPr txBox="1"/>
          <p:nvPr/>
        </p:nvSpPr>
        <p:spPr>
          <a:xfrm>
            <a:off x="0" y="573600"/>
            <a:ext cx="9144000" cy="13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80000"/>
                </a:solidFill>
              </a:rPr>
              <a:t>What’s wrong with this set of splits?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453" name="Google Shape;453;p32"/>
          <p:cNvSpPr/>
          <p:nvPr/>
        </p:nvSpPr>
        <p:spPr>
          <a:xfrm>
            <a:off x="924750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2"/>
          <p:cNvSpPr/>
          <p:nvPr/>
        </p:nvSpPr>
        <p:spPr>
          <a:xfrm>
            <a:off x="6853462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2"/>
          <p:cNvSpPr/>
          <p:nvPr/>
        </p:nvSpPr>
        <p:spPr>
          <a:xfrm>
            <a:off x="7594550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2"/>
          <p:cNvSpPr/>
          <p:nvPr/>
        </p:nvSpPr>
        <p:spPr>
          <a:xfrm>
            <a:off x="3148017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2"/>
          <p:cNvSpPr/>
          <p:nvPr/>
        </p:nvSpPr>
        <p:spPr>
          <a:xfrm>
            <a:off x="3889106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2"/>
          <p:cNvSpPr/>
          <p:nvPr/>
        </p:nvSpPr>
        <p:spPr>
          <a:xfrm>
            <a:off x="4630195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2"/>
          <p:cNvSpPr/>
          <p:nvPr/>
        </p:nvSpPr>
        <p:spPr>
          <a:xfrm>
            <a:off x="1665839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2"/>
          <p:cNvSpPr/>
          <p:nvPr/>
        </p:nvSpPr>
        <p:spPr>
          <a:xfrm>
            <a:off x="5371284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2"/>
          <p:cNvSpPr/>
          <p:nvPr/>
        </p:nvSpPr>
        <p:spPr>
          <a:xfrm>
            <a:off x="2406928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2"/>
          <p:cNvSpPr/>
          <p:nvPr/>
        </p:nvSpPr>
        <p:spPr>
          <a:xfrm>
            <a:off x="6112373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2"/>
          <p:cNvSpPr/>
          <p:nvPr/>
        </p:nvSpPr>
        <p:spPr>
          <a:xfrm>
            <a:off x="9247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2"/>
          <p:cNvSpPr/>
          <p:nvPr/>
        </p:nvSpPr>
        <p:spPr>
          <a:xfrm>
            <a:off x="16658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2"/>
          <p:cNvSpPr/>
          <p:nvPr/>
        </p:nvSpPr>
        <p:spPr>
          <a:xfrm>
            <a:off x="24069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2"/>
          <p:cNvSpPr/>
          <p:nvPr/>
        </p:nvSpPr>
        <p:spPr>
          <a:xfrm>
            <a:off x="31480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2"/>
          <p:cNvSpPr/>
          <p:nvPr/>
        </p:nvSpPr>
        <p:spPr>
          <a:xfrm>
            <a:off x="38891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2"/>
          <p:cNvSpPr/>
          <p:nvPr/>
        </p:nvSpPr>
        <p:spPr>
          <a:xfrm>
            <a:off x="46302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2"/>
          <p:cNvSpPr/>
          <p:nvPr/>
        </p:nvSpPr>
        <p:spPr>
          <a:xfrm>
            <a:off x="53713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2"/>
          <p:cNvSpPr/>
          <p:nvPr/>
        </p:nvSpPr>
        <p:spPr>
          <a:xfrm>
            <a:off x="61124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2"/>
          <p:cNvSpPr/>
          <p:nvPr/>
        </p:nvSpPr>
        <p:spPr>
          <a:xfrm>
            <a:off x="68535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2"/>
          <p:cNvSpPr/>
          <p:nvPr/>
        </p:nvSpPr>
        <p:spPr>
          <a:xfrm>
            <a:off x="759465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2"/>
          <p:cNvSpPr/>
          <p:nvPr/>
        </p:nvSpPr>
        <p:spPr>
          <a:xfrm>
            <a:off x="9247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2"/>
          <p:cNvSpPr/>
          <p:nvPr/>
        </p:nvSpPr>
        <p:spPr>
          <a:xfrm>
            <a:off x="16658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2"/>
          <p:cNvSpPr/>
          <p:nvPr/>
        </p:nvSpPr>
        <p:spPr>
          <a:xfrm>
            <a:off x="24069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2"/>
          <p:cNvSpPr/>
          <p:nvPr/>
        </p:nvSpPr>
        <p:spPr>
          <a:xfrm>
            <a:off x="31480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2"/>
          <p:cNvSpPr/>
          <p:nvPr/>
        </p:nvSpPr>
        <p:spPr>
          <a:xfrm>
            <a:off x="386880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2"/>
          <p:cNvSpPr/>
          <p:nvPr/>
        </p:nvSpPr>
        <p:spPr>
          <a:xfrm>
            <a:off x="46302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2"/>
          <p:cNvSpPr/>
          <p:nvPr/>
        </p:nvSpPr>
        <p:spPr>
          <a:xfrm>
            <a:off x="53713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2"/>
          <p:cNvSpPr/>
          <p:nvPr/>
        </p:nvSpPr>
        <p:spPr>
          <a:xfrm>
            <a:off x="61124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2"/>
          <p:cNvSpPr/>
          <p:nvPr/>
        </p:nvSpPr>
        <p:spPr>
          <a:xfrm>
            <a:off x="68535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2"/>
          <p:cNvSpPr/>
          <p:nvPr/>
        </p:nvSpPr>
        <p:spPr>
          <a:xfrm>
            <a:off x="759465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Training, Validation, and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8" name="Google Shape;488;p33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489" name="Google Shape;489;p33"/>
          <p:cNvSpPr txBox="1"/>
          <p:nvPr/>
        </p:nvSpPr>
        <p:spPr>
          <a:xfrm>
            <a:off x="0" y="573600"/>
            <a:ext cx="9144000" cy="13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Another: you want to build a machine learning model to predict how tall a plant will grow. Plants vary in fertilizer levels and temperature.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0" name="Google Shape;490;p33"/>
          <p:cNvSpPr/>
          <p:nvPr/>
        </p:nvSpPr>
        <p:spPr>
          <a:xfrm>
            <a:off x="1551388" y="2880475"/>
            <a:ext cx="47100" cy="450900"/>
          </a:xfrm>
          <a:prstGeom prst="rect">
            <a:avLst/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3"/>
          <p:cNvSpPr/>
          <p:nvPr/>
        </p:nvSpPr>
        <p:spPr>
          <a:xfrm>
            <a:off x="1349488" y="2504675"/>
            <a:ext cx="450900" cy="450900"/>
          </a:xfrm>
          <a:prstGeom prst="star16">
            <a:avLst>
              <a:gd fmla="val 37500" name="adj"/>
            </a:avLst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3"/>
          <p:cNvSpPr/>
          <p:nvPr/>
        </p:nvSpPr>
        <p:spPr>
          <a:xfrm flipH="1">
            <a:off x="7343613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00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3"/>
          <p:cNvSpPr/>
          <p:nvPr/>
        </p:nvSpPr>
        <p:spPr>
          <a:xfrm>
            <a:off x="1349337" y="4054698"/>
            <a:ext cx="450900" cy="389954"/>
          </a:xfrm>
          <a:prstGeom prst="flowChartMerge">
            <a:avLst/>
          </a:prstGeom>
          <a:solidFill>
            <a:srgbClr val="7F6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3"/>
          <p:cNvSpPr/>
          <p:nvPr/>
        </p:nvSpPr>
        <p:spPr>
          <a:xfrm>
            <a:off x="2096322" y="2880475"/>
            <a:ext cx="47100" cy="450900"/>
          </a:xfrm>
          <a:prstGeom prst="rect">
            <a:avLst/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3"/>
          <p:cNvSpPr/>
          <p:nvPr/>
        </p:nvSpPr>
        <p:spPr>
          <a:xfrm>
            <a:off x="1894422" y="2504675"/>
            <a:ext cx="450900" cy="450900"/>
          </a:xfrm>
          <a:prstGeom prst="star16">
            <a:avLst>
              <a:gd fmla="val 37500" name="adj"/>
            </a:avLst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3"/>
          <p:cNvSpPr/>
          <p:nvPr/>
        </p:nvSpPr>
        <p:spPr>
          <a:xfrm flipH="1">
            <a:off x="6798679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00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3"/>
          <p:cNvSpPr/>
          <p:nvPr/>
        </p:nvSpPr>
        <p:spPr>
          <a:xfrm>
            <a:off x="1894271" y="4054698"/>
            <a:ext cx="450900" cy="389954"/>
          </a:xfrm>
          <a:prstGeom prst="flowChartMerge">
            <a:avLst/>
          </a:prstGeom>
          <a:solidFill>
            <a:srgbClr val="7F6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3"/>
          <p:cNvSpPr/>
          <p:nvPr/>
        </p:nvSpPr>
        <p:spPr>
          <a:xfrm>
            <a:off x="2641256" y="2880475"/>
            <a:ext cx="47100" cy="450900"/>
          </a:xfrm>
          <a:prstGeom prst="rect">
            <a:avLst/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3"/>
          <p:cNvSpPr/>
          <p:nvPr/>
        </p:nvSpPr>
        <p:spPr>
          <a:xfrm>
            <a:off x="2439356" y="2504675"/>
            <a:ext cx="450900" cy="450900"/>
          </a:xfrm>
          <a:prstGeom prst="star16">
            <a:avLst>
              <a:gd fmla="val 37500" name="adj"/>
            </a:avLst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3"/>
          <p:cNvSpPr/>
          <p:nvPr/>
        </p:nvSpPr>
        <p:spPr>
          <a:xfrm flipH="1">
            <a:off x="6253745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00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3"/>
          <p:cNvSpPr/>
          <p:nvPr/>
        </p:nvSpPr>
        <p:spPr>
          <a:xfrm>
            <a:off x="2439205" y="4054698"/>
            <a:ext cx="450900" cy="389954"/>
          </a:xfrm>
          <a:prstGeom prst="flowChartMerge">
            <a:avLst/>
          </a:prstGeom>
          <a:solidFill>
            <a:srgbClr val="7F6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2" name="Google Shape;502;p33"/>
          <p:cNvGrpSpPr/>
          <p:nvPr/>
        </p:nvGrpSpPr>
        <p:grpSpPr>
          <a:xfrm flipH="1">
            <a:off x="5708810" y="2504675"/>
            <a:ext cx="450900" cy="826700"/>
            <a:chOff x="1089750" y="2273450"/>
            <a:chExt cx="450900" cy="826700"/>
          </a:xfrm>
        </p:grpSpPr>
        <p:sp>
          <p:nvSpPr>
            <p:cNvPr id="503" name="Google Shape;503;p33"/>
            <p:cNvSpPr/>
            <p:nvPr/>
          </p:nvSpPr>
          <p:spPr>
            <a:xfrm>
              <a:off x="1291650" y="2649250"/>
              <a:ext cx="47100" cy="450900"/>
            </a:xfrm>
            <a:prstGeom prst="rect">
              <a:avLst/>
            </a:prstGeom>
            <a:solidFill>
              <a:srgbClr val="274E1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3"/>
            <p:cNvSpPr/>
            <p:nvPr/>
          </p:nvSpPr>
          <p:spPr>
            <a:xfrm>
              <a:off x="1089750" y="2273450"/>
              <a:ext cx="450900" cy="450900"/>
            </a:xfrm>
            <a:prstGeom prst="star16">
              <a:avLst>
                <a:gd fmla="val 37500" name="adj"/>
              </a:avLst>
            </a:prstGeom>
            <a:solidFill>
              <a:srgbClr val="274E1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5" name="Google Shape;505;p33"/>
          <p:cNvSpPr/>
          <p:nvPr/>
        </p:nvSpPr>
        <p:spPr>
          <a:xfrm>
            <a:off x="2984289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4A86E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3"/>
          <p:cNvSpPr/>
          <p:nvPr/>
        </p:nvSpPr>
        <p:spPr>
          <a:xfrm flipH="1">
            <a:off x="5708961" y="4054698"/>
            <a:ext cx="450900" cy="389954"/>
          </a:xfrm>
          <a:prstGeom prst="flowChartMerge">
            <a:avLst/>
          </a:prstGeom>
          <a:solidFill>
            <a:srgbClr val="7F6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7" name="Google Shape;507;p33"/>
          <p:cNvGrpSpPr/>
          <p:nvPr/>
        </p:nvGrpSpPr>
        <p:grpSpPr>
          <a:xfrm flipH="1">
            <a:off x="5163876" y="2504675"/>
            <a:ext cx="450900" cy="826700"/>
            <a:chOff x="1089750" y="2273450"/>
            <a:chExt cx="450900" cy="826700"/>
          </a:xfrm>
        </p:grpSpPr>
        <p:sp>
          <p:nvSpPr>
            <p:cNvPr id="508" name="Google Shape;508;p33"/>
            <p:cNvSpPr/>
            <p:nvPr/>
          </p:nvSpPr>
          <p:spPr>
            <a:xfrm>
              <a:off x="1291650" y="2649250"/>
              <a:ext cx="47100" cy="450900"/>
            </a:xfrm>
            <a:prstGeom prst="rect">
              <a:avLst/>
            </a:prstGeom>
            <a:solidFill>
              <a:srgbClr val="274E1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3"/>
            <p:cNvSpPr/>
            <p:nvPr/>
          </p:nvSpPr>
          <p:spPr>
            <a:xfrm>
              <a:off x="1089750" y="2273450"/>
              <a:ext cx="450900" cy="450900"/>
            </a:xfrm>
            <a:prstGeom prst="star16">
              <a:avLst>
                <a:gd fmla="val 37500" name="adj"/>
              </a:avLst>
            </a:prstGeom>
            <a:solidFill>
              <a:srgbClr val="274E1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33"/>
          <p:cNvSpPr/>
          <p:nvPr/>
        </p:nvSpPr>
        <p:spPr>
          <a:xfrm>
            <a:off x="3529224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4A86E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3"/>
          <p:cNvSpPr/>
          <p:nvPr/>
        </p:nvSpPr>
        <p:spPr>
          <a:xfrm flipH="1">
            <a:off x="5164026" y="4054698"/>
            <a:ext cx="450900" cy="389954"/>
          </a:xfrm>
          <a:prstGeom prst="flowChartMerge">
            <a:avLst/>
          </a:prstGeom>
          <a:solidFill>
            <a:srgbClr val="7F6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2" name="Google Shape;512;p33"/>
          <p:cNvGrpSpPr/>
          <p:nvPr/>
        </p:nvGrpSpPr>
        <p:grpSpPr>
          <a:xfrm flipH="1">
            <a:off x="4618942" y="2504675"/>
            <a:ext cx="450900" cy="826700"/>
            <a:chOff x="1089750" y="2273450"/>
            <a:chExt cx="450900" cy="826700"/>
          </a:xfrm>
        </p:grpSpPr>
        <p:sp>
          <p:nvSpPr>
            <p:cNvPr id="513" name="Google Shape;513;p33"/>
            <p:cNvSpPr/>
            <p:nvPr/>
          </p:nvSpPr>
          <p:spPr>
            <a:xfrm>
              <a:off x="1291650" y="2649250"/>
              <a:ext cx="47100" cy="450900"/>
            </a:xfrm>
            <a:prstGeom prst="rect">
              <a:avLst/>
            </a:prstGeom>
            <a:solidFill>
              <a:srgbClr val="274E1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3"/>
            <p:cNvSpPr/>
            <p:nvPr/>
          </p:nvSpPr>
          <p:spPr>
            <a:xfrm>
              <a:off x="1089750" y="2273450"/>
              <a:ext cx="450900" cy="450900"/>
            </a:xfrm>
            <a:prstGeom prst="star16">
              <a:avLst>
                <a:gd fmla="val 37500" name="adj"/>
              </a:avLst>
            </a:prstGeom>
            <a:solidFill>
              <a:srgbClr val="274E1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5" name="Google Shape;515;p33"/>
          <p:cNvSpPr/>
          <p:nvPr/>
        </p:nvSpPr>
        <p:spPr>
          <a:xfrm>
            <a:off x="4074158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4A86E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3"/>
          <p:cNvSpPr/>
          <p:nvPr/>
        </p:nvSpPr>
        <p:spPr>
          <a:xfrm flipH="1">
            <a:off x="4619092" y="4054698"/>
            <a:ext cx="450900" cy="389954"/>
          </a:xfrm>
          <a:prstGeom prst="flowChartMerge">
            <a:avLst/>
          </a:prstGeom>
          <a:solidFill>
            <a:srgbClr val="7F6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3"/>
          <p:cNvSpPr/>
          <p:nvPr/>
        </p:nvSpPr>
        <p:spPr>
          <a:xfrm flipH="1">
            <a:off x="4275912" y="2484325"/>
            <a:ext cx="47100" cy="847200"/>
          </a:xfrm>
          <a:prstGeom prst="rect">
            <a:avLst/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3"/>
          <p:cNvSpPr/>
          <p:nvPr/>
        </p:nvSpPr>
        <p:spPr>
          <a:xfrm flipH="1">
            <a:off x="4074008" y="2199875"/>
            <a:ext cx="450900" cy="450900"/>
          </a:xfrm>
          <a:prstGeom prst="star16">
            <a:avLst>
              <a:gd fmla="val 37500" name="adj"/>
            </a:avLst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3"/>
          <p:cNvSpPr/>
          <p:nvPr/>
        </p:nvSpPr>
        <p:spPr>
          <a:xfrm>
            <a:off x="4619092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00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3"/>
          <p:cNvSpPr/>
          <p:nvPr/>
        </p:nvSpPr>
        <p:spPr>
          <a:xfrm flipH="1">
            <a:off x="4074158" y="4054698"/>
            <a:ext cx="450900" cy="389954"/>
          </a:xfrm>
          <a:prstGeom prst="flowChartMerge">
            <a:avLst/>
          </a:prstGeom>
          <a:solidFill>
            <a:srgbClr val="F1C23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3"/>
          <p:cNvSpPr/>
          <p:nvPr/>
        </p:nvSpPr>
        <p:spPr>
          <a:xfrm flipH="1">
            <a:off x="3730977" y="2484325"/>
            <a:ext cx="47100" cy="847200"/>
          </a:xfrm>
          <a:prstGeom prst="rect">
            <a:avLst/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3"/>
          <p:cNvSpPr/>
          <p:nvPr/>
        </p:nvSpPr>
        <p:spPr>
          <a:xfrm flipH="1">
            <a:off x="3529074" y="2199875"/>
            <a:ext cx="450900" cy="450900"/>
          </a:xfrm>
          <a:prstGeom prst="star16">
            <a:avLst>
              <a:gd fmla="val 37500" name="adj"/>
            </a:avLst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3"/>
          <p:cNvSpPr/>
          <p:nvPr/>
        </p:nvSpPr>
        <p:spPr>
          <a:xfrm>
            <a:off x="5164026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00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3"/>
          <p:cNvSpPr/>
          <p:nvPr/>
        </p:nvSpPr>
        <p:spPr>
          <a:xfrm flipH="1">
            <a:off x="3529224" y="4054698"/>
            <a:ext cx="450900" cy="389954"/>
          </a:xfrm>
          <a:prstGeom prst="flowChartMerge">
            <a:avLst/>
          </a:prstGeom>
          <a:solidFill>
            <a:srgbClr val="F1C23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3"/>
          <p:cNvSpPr/>
          <p:nvPr/>
        </p:nvSpPr>
        <p:spPr>
          <a:xfrm flipH="1">
            <a:off x="3186042" y="2484325"/>
            <a:ext cx="47100" cy="847200"/>
          </a:xfrm>
          <a:prstGeom prst="rect">
            <a:avLst/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3"/>
          <p:cNvSpPr/>
          <p:nvPr/>
        </p:nvSpPr>
        <p:spPr>
          <a:xfrm flipH="1">
            <a:off x="2984139" y="2199875"/>
            <a:ext cx="450900" cy="450900"/>
          </a:xfrm>
          <a:prstGeom prst="star16">
            <a:avLst>
              <a:gd fmla="val 37500" name="adj"/>
            </a:avLst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3"/>
          <p:cNvSpPr/>
          <p:nvPr/>
        </p:nvSpPr>
        <p:spPr>
          <a:xfrm>
            <a:off x="5708960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00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3"/>
          <p:cNvSpPr/>
          <p:nvPr/>
        </p:nvSpPr>
        <p:spPr>
          <a:xfrm flipH="1">
            <a:off x="2984290" y="4054698"/>
            <a:ext cx="450900" cy="389954"/>
          </a:xfrm>
          <a:prstGeom prst="flowChartMerge">
            <a:avLst/>
          </a:prstGeom>
          <a:solidFill>
            <a:srgbClr val="F1C23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3"/>
          <p:cNvSpPr/>
          <p:nvPr/>
        </p:nvSpPr>
        <p:spPr>
          <a:xfrm>
            <a:off x="6455793" y="2484325"/>
            <a:ext cx="47100" cy="847200"/>
          </a:xfrm>
          <a:prstGeom prst="rect">
            <a:avLst/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3"/>
          <p:cNvSpPr/>
          <p:nvPr/>
        </p:nvSpPr>
        <p:spPr>
          <a:xfrm>
            <a:off x="6253895" y="2199875"/>
            <a:ext cx="450900" cy="450900"/>
          </a:xfrm>
          <a:prstGeom prst="star16">
            <a:avLst>
              <a:gd fmla="val 37500" name="adj"/>
            </a:avLst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3"/>
          <p:cNvSpPr/>
          <p:nvPr/>
        </p:nvSpPr>
        <p:spPr>
          <a:xfrm flipH="1">
            <a:off x="2439206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4A86E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3"/>
          <p:cNvSpPr/>
          <p:nvPr/>
        </p:nvSpPr>
        <p:spPr>
          <a:xfrm>
            <a:off x="6253744" y="4054698"/>
            <a:ext cx="450900" cy="389954"/>
          </a:xfrm>
          <a:prstGeom prst="flowChartMerge">
            <a:avLst/>
          </a:prstGeom>
          <a:solidFill>
            <a:srgbClr val="F1C23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3"/>
          <p:cNvSpPr/>
          <p:nvPr/>
        </p:nvSpPr>
        <p:spPr>
          <a:xfrm>
            <a:off x="7000728" y="2484325"/>
            <a:ext cx="47100" cy="847200"/>
          </a:xfrm>
          <a:prstGeom prst="rect">
            <a:avLst/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3"/>
          <p:cNvSpPr/>
          <p:nvPr/>
        </p:nvSpPr>
        <p:spPr>
          <a:xfrm>
            <a:off x="6798829" y="2199875"/>
            <a:ext cx="450900" cy="450900"/>
          </a:xfrm>
          <a:prstGeom prst="star16">
            <a:avLst>
              <a:gd fmla="val 37500" name="adj"/>
            </a:avLst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3"/>
          <p:cNvSpPr/>
          <p:nvPr/>
        </p:nvSpPr>
        <p:spPr>
          <a:xfrm flipH="1">
            <a:off x="1894272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4A86E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3"/>
          <p:cNvSpPr/>
          <p:nvPr/>
        </p:nvSpPr>
        <p:spPr>
          <a:xfrm>
            <a:off x="6798678" y="4054698"/>
            <a:ext cx="450900" cy="389954"/>
          </a:xfrm>
          <a:prstGeom prst="flowChartMerge">
            <a:avLst/>
          </a:prstGeom>
          <a:solidFill>
            <a:srgbClr val="F1C23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3"/>
          <p:cNvSpPr/>
          <p:nvPr/>
        </p:nvSpPr>
        <p:spPr>
          <a:xfrm>
            <a:off x="7545663" y="2484325"/>
            <a:ext cx="47100" cy="847200"/>
          </a:xfrm>
          <a:prstGeom prst="rect">
            <a:avLst/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3"/>
          <p:cNvSpPr/>
          <p:nvPr/>
        </p:nvSpPr>
        <p:spPr>
          <a:xfrm>
            <a:off x="7343763" y="2199875"/>
            <a:ext cx="450900" cy="450900"/>
          </a:xfrm>
          <a:prstGeom prst="star16">
            <a:avLst>
              <a:gd fmla="val 37500" name="adj"/>
            </a:avLst>
          </a:prstGeom>
          <a:solidFill>
            <a:srgbClr val="274E1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3"/>
          <p:cNvSpPr/>
          <p:nvPr/>
        </p:nvSpPr>
        <p:spPr>
          <a:xfrm flipH="1">
            <a:off x="1349338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4A86E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3"/>
          <p:cNvSpPr/>
          <p:nvPr/>
        </p:nvSpPr>
        <p:spPr>
          <a:xfrm>
            <a:off x="7343612" y="4054698"/>
            <a:ext cx="450900" cy="389954"/>
          </a:xfrm>
          <a:prstGeom prst="flowChartMerge">
            <a:avLst/>
          </a:prstGeom>
          <a:solidFill>
            <a:srgbClr val="F1C23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Training, Validation, and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6" name="Google Shape;546;p34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47" name="Google Shape;547;p34"/>
          <p:cNvSpPr txBox="1"/>
          <p:nvPr/>
        </p:nvSpPr>
        <p:spPr>
          <a:xfrm>
            <a:off x="0" y="573600"/>
            <a:ext cx="9144000" cy="13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80000"/>
                </a:solidFill>
              </a:rPr>
              <a:t>What’s wrong with this set of splits?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548" name="Google Shape;548;p34"/>
          <p:cNvSpPr/>
          <p:nvPr/>
        </p:nvSpPr>
        <p:spPr>
          <a:xfrm>
            <a:off x="1551388" y="2880475"/>
            <a:ext cx="47100" cy="4509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4"/>
          <p:cNvSpPr/>
          <p:nvPr/>
        </p:nvSpPr>
        <p:spPr>
          <a:xfrm>
            <a:off x="1349488" y="2504675"/>
            <a:ext cx="450900" cy="450900"/>
          </a:xfrm>
          <a:prstGeom prst="star16">
            <a:avLst>
              <a:gd fmla="val 375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1349337" y="4054698"/>
            <a:ext cx="450900" cy="389954"/>
          </a:xfrm>
          <a:prstGeom prst="flowChartMerge">
            <a:avLst/>
          </a:prstGeom>
          <a:solidFill>
            <a:srgbClr val="7F6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4"/>
          <p:cNvSpPr/>
          <p:nvPr/>
        </p:nvSpPr>
        <p:spPr>
          <a:xfrm>
            <a:off x="2096322" y="2880475"/>
            <a:ext cx="47100" cy="4509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4"/>
          <p:cNvSpPr/>
          <p:nvPr/>
        </p:nvSpPr>
        <p:spPr>
          <a:xfrm>
            <a:off x="1894422" y="2504675"/>
            <a:ext cx="450900" cy="450900"/>
          </a:xfrm>
          <a:prstGeom prst="star16">
            <a:avLst>
              <a:gd fmla="val 375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4"/>
          <p:cNvSpPr/>
          <p:nvPr/>
        </p:nvSpPr>
        <p:spPr>
          <a:xfrm>
            <a:off x="1894271" y="4054698"/>
            <a:ext cx="450900" cy="389954"/>
          </a:xfrm>
          <a:prstGeom prst="flowChartMerge">
            <a:avLst/>
          </a:prstGeom>
          <a:solidFill>
            <a:srgbClr val="7F6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4"/>
          <p:cNvSpPr/>
          <p:nvPr/>
        </p:nvSpPr>
        <p:spPr>
          <a:xfrm>
            <a:off x="2641256" y="2880475"/>
            <a:ext cx="47100" cy="4509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4"/>
          <p:cNvSpPr/>
          <p:nvPr/>
        </p:nvSpPr>
        <p:spPr>
          <a:xfrm>
            <a:off x="2439356" y="2504675"/>
            <a:ext cx="450900" cy="450900"/>
          </a:xfrm>
          <a:prstGeom prst="star16">
            <a:avLst>
              <a:gd fmla="val 375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4"/>
          <p:cNvSpPr/>
          <p:nvPr/>
        </p:nvSpPr>
        <p:spPr>
          <a:xfrm>
            <a:off x="2439205" y="4054698"/>
            <a:ext cx="450900" cy="389954"/>
          </a:xfrm>
          <a:prstGeom prst="flowChartMerge">
            <a:avLst/>
          </a:prstGeom>
          <a:solidFill>
            <a:srgbClr val="7F6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7" name="Google Shape;557;p34"/>
          <p:cNvGrpSpPr/>
          <p:nvPr/>
        </p:nvGrpSpPr>
        <p:grpSpPr>
          <a:xfrm flipH="1">
            <a:off x="5708810" y="2504675"/>
            <a:ext cx="450900" cy="826700"/>
            <a:chOff x="1089750" y="2273450"/>
            <a:chExt cx="450900" cy="826700"/>
          </a:xfrm>
        </p:grpSpPr>
        <p:sp>
          <p:nvSpPr>
            <p:cNvPr id="558" name="Google Shape;558;p34"/>
            <p:cNvSpPr/>
            <p:nvPr/>
          </p:nvSpPr>
          <p:spPr>
            <a:xfrm>
              <a:off x="1291650" y="2649250"/>
              <a:ext cx="47100" cy="450900"/>
            </a:xfrm>
            <a:prstGeom prst="rect">
              <a:avLst/>
            </a:prstGeom>
            <a:solidFill>
              <a:srgbClr val="98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4"/>
            <p:cNvSpPr/>
            <p:nvPr/>
          </p:nvSpPr>
          <p:spPr>
            <a:xfrm>
              <a:off x="1089750" y="2273450"/>
              <a:ext cx="450900" cy="450900"/>
            </a:xfrm>
            <a:prstGeom prst="star16">
              <a:avLst>
                <a:gd fmla="val 37500" name="adj"/>
              </a:avLst>
            </a:prstGeom>
            <a:solidFill>
              <a:srgbClr val="98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34"/>
          <p:cNvSpPr/>
          <p:nvPr/>
        </p:nvSpPr>
        <p:spPr>
          <a:xfrm>
            <a:off x="2984289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4A86E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4"/>
          <p:cNvSpPr/>
          <p:nvPr/>
        </p:nvSpPr>
        <p:spPr>
          <a:xfrm flipH="1">
            <a:off x="5708961" y="4054698"/>
            <a:ext cx="450900" cy="389954"/>
          </a:xfrm>
          <a:prstGeom prst="flowChartMerge">
            <a:avLst/>
          </a:prstGeom>
          <a:solidFill>
            <a:srgbClr val="7F6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2" name="Google Shape;562;p34"/>
          <p:cNvGrpSpPr/>
          <p:nvPr/>
        </p:nvGrpSpPr>
        <p:grpSpPr>
          <a:xfrm flipH="1">
            <a:off x="5163876" y="2504675"/>
            <a:ext cx="450900" cy="826700"/>
            <a:chOff x="1089750" y="2273450"/>
            <a:chExt cx="450900" cy="826700"/>
          </a:xfrm>
        </p:grpSpPr>
        <p:sp>
          <p:nvSpPr>
            <p:cNvPr id="563" name="Google Shape;563;p34"/>
            <p:cNvSpPr/>
            <p:nvPr/>
          </p:nvSpPr>
          <p:spPr>
            <a:xfrm>
              <a:off x="1291650" y="2649250"/>
              <a:ext cx="47100" cy="4509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4"/>
            <p:cNvSpPr/>
            <p:nvPr/>
          </p:nvSpPr>
          <p:spPr>
            <a:xfrm>
              <a:off x="1089750" y="2273450"/>
              <a:ext cx="450900" cy="450900"/>
            </a:xfrm>
            <a:prstGeom prst="star16">
              <a:avLst>
                <a:gd fmla="val 37500" name="adj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5" name="Google Shape;565;p34"/>
          <p:cNvSpPr/>
          <p:nvPr/>
        </p:nvSpPr>
        <p:spPr>
          <a:xfrm>
            <a:off x="3529224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4A86E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4"/>
          <p:cNvSpPr/>
          <p:nvPr/>
        </p:nvSpPr>
        <p:spPr>
          <a:xfrm flipH="1">
            <a:off x="5164026" y="4054698"/>
            <a:ext cx="450900" cy="389954"/>
          </a:xfrm>
          <a:prstGeom prst="flowChartMerge">
            <a:avLst/>
          </a:prstGeom>
          <a:solidFill>
            <a:srgbClr val="7F6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7" name="Google Shape;567;p34"/>
          <p:cNvGrpSpPr/>
          <p:nvPr/>
        </p:nvGrpSpPr>
        <p:grpSpPr>
          <a:xfrm flipH="1">
            <a:off x="4618942" y="2504675"/>
            <a:ext cx="450900" cy="826700"/>
            <a:chOff x="1089750" y="2273450"/>
            <a:chExt cx="450900" cy="826700"/>
          </a:xfrm>
        </p:grpSpPr>
        <p:sp>
          <p:nvSpPr>
            <p:cNvPr id="568" name="Google Shape;568;p34"/>
            <p:cNvSpPr/>
            <p:nvPr/>
          </p:nvSpPr>
          <p:spPr>
            <a:xfrm>
              <a:off x="1291650" y="2649250"/>
              <a:ext cx="47100" cy="450900"/>
            </a:xfrm>
            <a:prstGeom prst="rect">
              <a:avLst/>
            </a:prstGeom>
            <a:solidFill>
              <a:srgbClr val="E6B8A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4"/>
            <p:cNvSpPr/>
            <p:nvPr/>
          </p:nvSpPr>
          <p:spPr>
            <a:xfrm>
              <a:off x="1089750" y="2273450"/>
              <a:ext cx="450900" cy="450900"/>
            </a:xfrm>
            <a:prstGeom prst="star16">
              <a:avLst>
                <a:gd fmla="val 37500" name="adj"/>
              </a:avLst>
            </a:prstGeom>
            <a:solidFill>
              <a:srgbClr val="E6B8A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0" name="Google Shape;570;p34"/>
          <p:cNvSpPr/>
          <p:nvPr/>
        </p:nvSpPr>
        <p:spPr>
          <a:xfrm>
            <a:off x="4074158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4A86E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4"/>
          <p:cNvSpPr/>
          <p:nvPr/>
        </p:nvSpPr>
        <p:spPr>
          <a:xfrm flipH="1">
            <a:off x="4619092" y="4054698"/>
            <a:ext cx="450900" cy="389954"/>
          </a:xfrm>
          <a:prstGeom prst="flowChartMerge">
            <a:avLst/>
          </a:prstGeom>
          <a:solidFill>
            <a:srgbClr val="7F6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4"/>
          <p:cNvSpPr/>
          <p:nvPr/>
        </p:nvSpPr>
        <p:spPr>
          <a:xfrm flipH="1">
            <a:off x="4275912" y="2484325"/>
            <a:ext cx="47100" cy="8472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4"/>
          <p:cNvSpPr/>
          <p:nvPr/>
        </p:nvSpPr>
        <p:spPr>
          <a:xfrm flipH="1">
            <a:off x="4074008" y="2199875"/>
            <a:ext cx="450900" cy="450900"/>
          </a:xfrm>
          <a:prstGeom prst="star16">
            <a:avLst>
              <a:gd fmla="val 375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4"/>
          <p:cNvSpPr/>
          <p:nvPr/>
        </p:nvSpPr>
        <p:spPr>
          <a:xfrm flipH="1">
            <a:off x="4074158" y="4054698"/>
            <a:ext cx="450900" cy="389954"/>
          </a:xfrm>
          <a:prstGeom prst="flowChartMerge">
            <a:avLst/>
          </a:prstGeom>
          <a:solidFill>
            <a:srgbClr val="F1C23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4"/>
          <p:cNvSpPr/>
          <p:nvPr/>
        </p:nvSpPr>
        <p:spPr>
          <a:xfrm flipH="1">
            <a:off x="3730977" y="2484325"/>
            <a:ext cx="47100" cy="8472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4"/>
          <p:cNvSpPr/>
          <p:nvPr/>
        </p:nvSpPr>
        <p:spPr>
          <a:xfrm flipH="1">
            <a:off x="3529074" y="2199875"/>
            <a:ext cx="450900" cy="450900"/>
          </a:xfrm>
          <a:prstGeom prst="star16">
            <a:avLst>
              <a:gd fmla="val 375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4"/>
          <p:cNvSpPr/>
          <p:nvPr/>
        </p:nvSpPr>
        <p:spPr>
          <a:xfrm flipH="1">
            <a:off x="3529224" y="4054698"/>
            <a:ext cx="450900" cy="389954"/>
          </a:xfrm>
          <a:prstGeom prst="flowChartMerge">
            <a:avLst/>
          </a:prstGeom>
          <a:solidFill>
            <a:srgbClr val="F1C23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4"/>
          <p:cNvSpPr/>
          <p:nvPr/>
        </p:nvSpPr>
        <p:spPr>
          <a:xfrm flipH="1">
            <a:off x="3186042" y="2484325"/>
            <a:ext cx="47100" cy="8472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4"/>
          <p:cNvSpPr/>
          <p:nvPr/>
        </p:nvSpPr>
        <p:spPr>
          <a:xfrm flipH="1">
            <a:off x="2984139" y="2199875"/>
            <a:ext cx="450900" cy="450900"/>
          </a:xfrm>
          <a:prstGeom prst="star16">
            <a:avLst>
              <a:gd fmla="val 375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4"/>
          <p:cNvSpPr/>
          <p:nvPr/>
        </p:nvSpPr>
        <p:spPr>
          <a:xfrm flipH="1">
            <a:off x="2984290" y="4054698"/>
            <a:ext cx="450900" cy="389954"/>
          </a:xfrm>
          <a:prstGeom prst="flowChartMerge">
            <a:avLst/>
          </a:prstGeom>
          <a:solidFill>
            <a:srgbClr val="F1C23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4"/>
          <p:cNvSpPr/>
          <p:nvPr/>
        </p:nvSpPr>
        <p:spPr>
          <a:xfrm>
            <a:off x="6455793" y="2484325"/>
            <a:ext cx="47100" cy="8472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4"/>
          <p:cNvSpPr/>
          <p:nvPr/>
        </p:nvSpPr>
        <p:spPr>
          <a:xfrm>
            <a:off x="6253895" y="2199875"/>
            <a:ext cx="450900" cy="450900"/>
          </a:xfrm>
          <a:prstGeom prst="star16">
            <a:avLst>
              <a:gd fmla="val 375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4"/>
          <p:cNvSpPr/>
          <p:nvPr/>
        </p:nvSpPr>
        <p:spPr>
          <a:xfrm flipH="1">
            <a:off x="2439206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4A86E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4"/>
          <p:cNvSpPr/>
          <p:nvPr/>
        </p:nvSpPr>
        <p:spPr>
          <a:xfrm>
            <a:off x="6253744" y="4054698"/>
            <a:ext cx="450900" cy="389954"/>
          </a:xfrm>
          <a:prstGeom prst="flowChartMerge">
            <a:avLst/>
          </a:prstGeom>
          <a:solidFill>
            <a:srgbClr val="F1C23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4"/>
          <p:cNvSpPr/>
          <p:nvPr/>
        </p:nvSpPr>
        <p:spPr>
          <a:xfrm>
            <a:off x="7000728" y="2484325"/>
            <a:ext cx="47100" cy="8472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4"/>
          <p:cNvSpPr/>
          <p:nvPr/>
        </p:nvSpPr>
        <p:spPr>
          <a:xfrm>
            <a:off x="6798829" y="2199875"/>
            <a:ext cx="450900" cy="450900"/>
          </a:xfrm>
          <a:prstGeom prst="star16">
            <a:avLst>
              <a:gd fmla="val 37500" name="adj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4"/>
          <p:cNvSpPr/>
          <p:nvPr/>
        </p:nvSpPr>
        <p:spPr>
          <a:xfrm flipH="1">
            <a:off x="1894272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4A86E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4"/>
          <p:cNvSpPr/>
          <p:nvPr/>
        </p:nvSpPr>
        <p:spPr>
          <a:xfrm>
            <a:off x="6798678" y="4054698"/>
            <a:ext cx="450900" cy="389954"/>
          </a:xfrm>
          <a:prstGeom prst="flowChartMerge">
            <a:avLst/>
          </a:prstGeom>
          <a:solidFill>
            <a:srgbClr val="F1C23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4"/>
          <p:cNvSpPr/>
          <p:nvPr/>
        </p:nvSpPr>
        <p:spPr>
          <a:xfrm>
            <a:off x="7545663" y="2484325"/>
            <a:ext cx="47100" cy="8472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4"/>
          <p:cNvSpPr/>
          <p:nvPr/>
        </p:nvSpPr>
        <p:spPr>
          <a:xfrm>
            <a:off x="7343763" y="2199875"/>
            <a:ext cx="450900" cy="450900"/>
          </a:xfrm>
          <a:prstGeom prst="star16">
            <a:avLst>
              <a:gd fmla="val 37500" name="adj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4"/>
          <p:cNvSpPr/>
          <p:nvPr/>
        </p:nvSpPr>
        <p:spPr>
          <a:xfrm flipH="1">
            <a:off x="1349338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4A86E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4"/>
          <p:cNvSpPr/>
          <p:nvPr/>
        </p:nvSpPr>
        <p:spPr>
          <a:xfrm>
            <a:off x="7343612" y="4054698"/>
            <a:ext cx="450900" cy="389954"/>
          </a:xfrm>
          <a:prstGeom prst="flowChartMerge">
            <a:avLst/>
          </a:prstGeom>
          <a:solidFill>
            <a:srgbClr val="F1C23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4"/>
          <p:cNvSpPr/>
          <p:nvPr/>
        </p:nvSpPr>
        <p:spPr>
          <a:xfrm flipH="1">
            <a:off x="7343613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00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4"/>
          <p:cNvSpPr/>
          <p:nvPr/>
        </p:nvSpPr>
        <p:spPr>
          <a:xfrm flipH="1">
            <a:off x="6798679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00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4"/>
          <p:cNvSpPr/>
          <p:nvPr/>
        </p:nvSpPr>
        <p:spPr>
          <a:xfrm flipH="1">
            <a:off x="6253745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00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4"/>
          <p:cNvSpPr/>
          <p:nvPr/>
        </p:nvSpPr>
        <p:spPr>
          <a:xfrm>
            <a:off x="4619092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00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4"/>
          <p:cNvSpPr/>
          <p:nvPr/>
        </p:nvSpPr>
        <p:spPr>
          <a:xfrm>
            <a:off x="5164026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00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4"/>
          <p:cNvSpPr/>
          <p:nvPr/>
        </p:nvSpPr>
        <p:spPr>
          <a:xfrm>
            <a:off x="5708960" y="3467586"/>
            <a:ext cx="450900" cy="450900"/>
          </a:xfrm>
          <a:prstGeom prst="sun">
            <a:avLst>
              <a:gd fmla="val 25000" name="adj"/>
            </a:avLst>
          </a:prstGeom>
          <a:solidFill>
            <a:srgbClr val="00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Training, Validation, and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4" name="Google Shape;604;p35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05" name="Google Shape;605;p35"/>
          <p:cNvSpPr txBox="1"/>
          <p:nvPr>
            <p:ph idx="1" type="body"/>
          </p:nvPr>
        </p:nvSpPr>
        <p:spPr>
          <a:xfrm>
            <a:off x="0" y="572700"/>
            <a:ext cx="91440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Another important consideration: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Overrepresented and underrepresented classes</a:t>
            </a:r>
            <a:endParaRPr sz="2400"/>
          </a:p>
        </p:txBody>
      </p:sp>
      <p:sp>
        <p:nvSpPr>
          <p:cNvPr id="606" name="Google Shape;606;p35"/>
          <p:cNvSpPr/>
          <p:nvPr/>
        </p:nvSpPr>
        <p:spPr>
          <a:xfrm>
            <a:off x="6853462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5"/>
          <p:cNvSpPr/>
          <p:nvPr/>
        </p:nvSpPr>
        <p:spPr>
          <a:xfrm>
            <a:off x="3148017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5"/>
          <p:cNvSpPr/>
          <p:nvPr/>
        </p:nvSpPr>
        <p:spPr>
          <a:xfrm>
            <a:off x="3889106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5"/>
          <p:cNvSpPr/>
          <p:nvPr/>
        </p:nvSpPr>
        <p:spPr>
          <a:xfrm>
            <a:off x="4630195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5"/>
          <p:cNvSpPr/>
          <p:nvPr/>
        </p:nvSpPr>
        <p:spPr>
          <a:xfrm>
            <a:off x="1665839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5"/>
          <p:cNvSpPr/>
          <p:nvPr/>
        </p:nvSpPr>
        <p:spPr>
          <a:xfrm>
            <a:off x="5371284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5"/>
          <p:cNvSpPr/>
          <p:nvPr/>
        </p:nvSpPr>
        <p:spPr>
          <a:xfrm>
            <a:off x="2406928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5"/>
          <p:cNvSpPr/>
          <p:nvPr/>
        </p:nvSpPr>
        <p:spPr>
          <a:xfrm>
            <a:off x="6112373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5"/>
          <p:cNvSpPr/>
          <p:nvPr/>
        </p:nvSpPr>
        <p:spPr>
          <a:xfrm>
            <a:off x="425970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5"/>
          <p:cNvSpPr/>
          <p:nvPr/>
        </p:nvSpPr>
        <p:spPr>
          <a:xfrm>
            <a:off x="425970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Training, Validation, and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1" name="Google Shape;621;p36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22" name="Google Shape;622;p36"/>
          <p:cNvSpPr txBox="1"/>
          <p:nvPr>
            <p:ph idx="1" type="body"/>
          </p:nvPr>
        </p:nvSpPr>
        <p:spPr>
          <a:xfrm>
            <a:off x="0" y="572700"/>
            <a:ext cx="91440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 machine learning algorithm that learns to guess “square” 100% of the time on this dataset will be right 8/10 times</a:t>
            </a:r>
            <a:endParaRPr sz="2400"/>
          </a:p>
        </p:txBody>
      </p:sp>
      <p:sp>
        <p:nvSpPr>
          <p:cNvPr id="623" name="Google Shape;623;p36"/>
          <p:cNvSpPr/>
          <p:nvPr/>
        </p:nvSpPr>
        <p:spPr>
          <a:xfrm>
            <a:off x="6853462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6"/>
          <p:cNvSpPr/>
          <p:nvPr/>
        </p:nvSpPr>
        <p:spPr>
          <a:xfrm>
            <a:off x="3148017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6"/>
          <p:cNvSpPr/>
          <p:nvPr/>
        </p:nvSpPr>
        <p:spPr>
          <a:xfrm>
            <a:off x="3889106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6"/>
          <p:cNvSpPr/>
          <p:nvPr/>
        </p:nvSpPr>
        <p:spPr>
          <a:xfrm>
            <a:off x="4630195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6"/>
          <p:cNvSpPr/>
          <p:nvPr/>
        </p:nvSpPr>
        <p:spPr>
          <a:xfrm>
            <a:off x="1665839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6"/>
          <p:cNvSpPr/>
          <p:nvPr/>
        </p:nvSpPr>
        <p:spPr>
          <a:xfrm>
            <a:off x="5371284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6"/>
          <p:cNvSpPr/>
          <p:nvPr/>
        </p:nvSpPr>
        <p:spPr>
          <a:xfrm>
            <a:off x="2406928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6"/>
          <p:cNvSpPr/>
          <p:nvPr/>
        </p:nvSpPr>
        <p:spPr>
          <a:xfrm>
            <a:off x="6112373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6"/>
          <p:cNvSpPr/>
          <p:nvPr/>
        </p:nvSpPr>
        <p:spPr>
          <a:xfrm>
            <a:off x="425970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6"/>
          <p:cNvSpPr/>
          <p:nvPr/>
        </p:nvSpPr>
        <p:spPr>
          <a:xfrm>
            <a:off x="425970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Training, Validation, and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8" name="Google Shape;638;p37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39" name="Google Shape;639;p37"/>
          <p:cNvSpPr txBox="1"/>
          <p:nvPr>
            <p:ph idx="1" type="body"/>
          </p:nvPr>
        </p:nvSpPr>
        <p:spPr>
          <a:xfrm>
            <a:off x="0" y="572700"/>
            <a:ext cx="91440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One way to fix this if you have enough data: as best as you can, make each class have the same number of observations</a:t>
            </a:r>
            <a:endParaRPr sz="2400"/>
          </a:p>
        </p:txBody>
      </p:sp>
      <p:sp>
        <p:nvSpPr>
          <p:cNvPr id="640" name="Google Shape;640;p37"/>
          <p:cNvSpPr/>
          <p:nvPr/>
        </p:nvSpPr>
        <p:spPr>
          <a:xfrm>
            <a:off x="4259700" y="1877269"/>
            <a:ext cx="624600" cy="6246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7"/>
          <p:cNvSpPr/>
          <p:nvPr/>
        </p:nvSpPr>
        <p:spPr>
          <a:xfrm>
            <a:off x="4259700" y="2641631"/>
            <a:ext cx="624600" cy="6246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7"/>
          <p:cNvSpPr/>
          <p:nvPr/>
        </p:nvSpPr>
        <p:spPr>
          <a:xfrm>
            <a:off x="4259700" y="3333425"/>
            <a:ext cx="624600" cy="624600"/>
          </a:xfrm>
          <a:prstGeom prst="triangle">
            <a:avLst>
              <a:gd fmla="val 50000" name="adj"/>
            </a:avLst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Training, Validation, and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8" name="Google Shape;648;p38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49" name="Google Shape;649;p38"/>
          <p:cNvSpPr txBox="1"/>
          <p:nvPr>
            <p:ph idx="1" type="body"/>
          </p:nvPr>
        </p:nvSpPr>
        <p:spPr>
          <a:xfrm>
            <a:off x="0" y="572700"/>
            <a:ext cx="9144000" cy="3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Parameters</a:t>
            </a:r>
            <a:r>
              <a:rPr lang="en-US" sz="2400"/>
              <a:t> in an ML model are the relationships between your input data and your output data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Hyperparameters </a:t>
            </a:r>
            <a:r>
              <a:rPr lang="en-US" sz="2400"/>
              <a:t>in an ML model are how the model itself is set up to learn</a:t>
            </a:r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Training, Validation, and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5" name="Google Shape;655;p39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56" name="Google Shape;656;p39"/>
          <p:cNvSpPr txBox="1"/>
          <p:nvPr>
            <p:ph idx="1" type="body"/>
          </p:nvPr>
        </p:nvSpPr>
        <p:spPr>
          <a:xfrm>
            <a:off x="0" y="572700"/>
            <a:ext cx="91440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Comparing two </a:t>
            </a:r>
            <a:r>
              <a:rPr lang="en-US" sz="2400"/>
              <a:t>linear </a:t>
            </a:r>
            <a:r>
              <a:rPr lang="en-US" sz="2400"/>
              <a:t>regression models:</a:t>
            </a:r>
            <a:endParaRPr baseline="30000" sz="2400"/>
          </a:p>
        </p:txBody>
      </p:sp>
      <p:graphicFrame>
        <p:nvGraphicFramePr>
          <p:cNvPr id="657" name="Google Shape;657;p39"/>
          <p:cNvGraphicFramePr/>
          <p:nvPr/>
        </p:nvGraphicFramePr>
        <p:xfrm>
          <a:off x="870300" y="12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{2CEC75F6-F0A2-423F-BD84-0B1CD15C814E}</a:tableStyleId>
              </a:tblPr>
              <a:tblGrid>
                <a:gridCol w="2585225"/>
                <a:gridCol w="2200050"/>
                <a:gridCol w="261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y = A*x</a:t>
                      </a:r>
                      <a:endParaRPr sz="24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y = A*x + B*x</a:t>
                      </a:r>
                      <a:r>
                        <a:rPr baseline="30000" lang="en-US" sz="2400">
                          <a:solidFill>
                            <a:schemeClr val="dk1"/>
                          </a:solidFill>
                        </a:rPr>
                        <a:t>2</a:t>
                      </a:r>
                      <a:endParaRPr sz="24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Input data</a:t>
                      </a:r>
                      <a:endParaRPr sz="24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Output data</a:t>
                      </a:r>
                      <a:endParaRPr sz="24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Parameters</a:t>
                      </a:r>
                      <a:endParaRPr sz="24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A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A, B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Hyperparameters</a:t>
                      </a:r>
                      <a:endParaRPr sz="24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Linear 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Linear, Quadratic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Training, Validation, and Testing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63" name="Google Shape;663;p40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64" name="Google Shape;664;p40"/>
          <p:cNvSpPr txBox="1"/>
          <p:nvPr>
            <p:ph idx="1" type="body"/>
          </p:nvPr>
        </p:nvSpPr>
        <p:spPr>
          <a:xfrm>
            <a:off x="0" y="572700"/>
            <a:ext cx="91440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Hyperparameters are in Maxent too!</a:t>
            </a:r>
            <a:endParaRPr baseline="30000" sz="2400"/>
          </a:p>
        </p:txBody>
      </p:sp>
      <p:pic>
        <p:nvPicPr>
          <p:cNvPr id="665" name="Google Shape;66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43" y="1615950"/>
            <a:ext cx="4328541" cy="2885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8084" y="1615950"/>
            <a:ext cx="4456372" cy="2970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0"/>
          <p:cNvSpPr txBox="1"/>
          <p:nvPr/>
        </p:nvSpPr>
        <p:spPr>
          <a:xfrm>
            <a:off x="0" y="1200000"/>
            <a:ext cx="43284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Threshold</a:t>
            </a:r>
            <a:endParaRPr/>
          </a:p>
        </p:txBody>
      </p:sp>
      <p:sp>
        <p:nvSpPr>
          <p:cNvPr id="668" name="Google Shape;668;p40"/>
          <p:cNvSpPr txBox="1"/>
          <p:nvPr/>
        </p:nvSpPr>
        <p:spPr>
          <a:xfrm>
            <a:off x="4687625" y="1200000"/>
            <a:ext cx="44565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Hinge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Overfitting of models</a:t>
            </a:r>
            <a:endParaRPr/>
          </a:p>
        </p:txBody>
      </p:sp>
      <p:sp>
        <p:nvSpPr>
          <p:cNvPr id="674" name="Google Shape;674;p41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Maxent is an ML model after all</a:t>
            </a:r>
            <a:r>
              <a:rPr lang="en-US" sz="1400">
                <a:solidFill>
                  <a:schemeClr val="dk1"/>
                </a:solidFill>
              </a:rPr>
              <a:t> 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75" name="Google Shape;675;p41"/>
          <p:cNvSpPr txBox="1"/>
          <p:nvPr/>
        </p:nvSpPr>
        <p:spPr>
          <a:xfrm>
            <a:off x="0" y="573600"/>
            <a:ext cx="91440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Also: machine learning models can be overfit </a:t>
            </a:r>
            <a:r>
              <a:rPr lang="en-US" sz="2400">
                <a:solidFill>
                  <a:schemeClr val="dk1"/>
                </a:solidFill>
              </a:rPr>
              <a:t>just like we talked about with SDMs!</a:t>
            </a:r>
            <a:endParaRPr sz="2400">
              <a:solidFill>
                <a:schemeClr val="dk1"/>
              </a:solidFill>
            </a:endParaRPr>
          </a:p>
        </p:txBody>
      </p:sp>
      <p:grpSp>
        <p:nvGrpSpPr>
          <p:cNvPr id="676" name="Google Shape;676;p41"/>
          <p:cNvGrpSpPr/>
          <p:nvPr/>
        </p:nvGrpSpPr>
        <p:grpSpPr>
          <a:xfrm>
            <a:off x="275187" y="1763801"/>
            <a:ext cx="8632668" cy="2377897"/>
            <a:chOff x="-3094050" y="1370700"/>
            <a:chExt cx="10074300" cy="2775000"/>
          </a:xfrm>
        </p:grpSpPr>
        <p:sp>
          <p:nvSpPr>
            <p:cNvPr id="677" name="Google Shape;677;p41"/>
            <p:cNvSpPr/>
            <p:nvPr/>
          </p:nvSpPr>
          <p:spPr>
            <a:xfrm>
              <a:off x="2163750" y="1370700"/>
              <a:ext cx="4816500" cy="2775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1"/>
            <p:cNvSpPr/>
            <p:nvPr/>
          </p:nvSpPr>
          <p:spPr>
            <a:xfrm>
              <a:off x="2302700" y="38162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1"/>
            <p:cNvSpPr/>
            <p:nvPr/>
          </p:nvSpPr>
          <p:spPr>
            <a:xfrm>
              <a:off x="2531300" y="35114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41"/>
            <p:cNvSpPr/>
            <p:nvPr/>
          </p:nvSpPr>
          <p:spPr>
            <a:xfrm>
              <a:off x="2836100" y="36638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1"/>
            <p:cNvSpPr/>
            <p:nvPr/>
          </p:nvSpPr>
          <p:spPr>
            <a:xfrm>
              <a:off x="2988500" y="29780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1"/>
            <p:cNvSpPr/>
            <p:nvPr/>
          </p:nvSpPr>
          <p:spPr>
            <a:xfrm>
              <a:off x="3445700" y="35876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1"/>
            <p:cNvSpPr/>
            <p:nvPr/>
          </p:nvSpPr>
          <p:spPr>
            <a:xfrm>
              <a:off x="3140900" y="34352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1"/>
            <p:cNvSpPr/>
            <p:nvPr/>
          </p:nvSpPr>
          <p:spPr>
            <a:xfrm>
              <a:off x="3445700" y="30542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1"/>
            <p:cNvSpPr/>
            <p:nvPr/>
          </p:nvSpPr>
          <p:spPr>
            <a:xfrm>
              <a:off x="3750500" y="29780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1"/>
            <p:cNvSpPr/>
            <p:nvPr/>
          </p:nvSpPr>
          <p:spPr>
            <a:xfrm>
              <a:off x="4055300" y="32828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41"/>
            <p:cNvSpPr/>
            <p:nvPr/>
          </p:nvSpPr>
          <p:spPr>
            <a:xfrm>
              <a:off x="4283900" y="29018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1"/>
            <p:cNvSpPr/>
            <p:nvPr/>
          </p:nvSpPr>
          <p:spPr>
            <a:xfrm>
              <a:off x="4416500" y="27501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1"/>
            <p:cNvSpPr/>
            <p:nvPr/>
          </p:nvSpPr>
          <p:spPr>
            <a:xfrm>
              <a:off x="4645100" y="24453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41"/>
            <p:cNvSpPr/>
            <p:nvPr/>
          </p:nvSpPr>
          <p:spPr>
            <a:xfrm>
              <a:off x="4949900" y="25977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41"/>
            <p:cNvSpPr/>
            <p:nvPr/>
          </p:nvSpPr>
          <p:spPr>
            <a:xfrm>
              <a:off x="5102300" y="19119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1"/>
            <p:cNvSpPr/>
            <p:nvPr/>
          </p:nvSpPr>
          <p:spPr>
            <a:xfrm>
              <a:off x="5559500" y="25215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41"/>
            <p:cNvSpPr/>
            <p:nvPr/>
          </p:nvSpPr>
          <p:spPr>
            <a:xfrm>
              <a:off x="5254700" y="23691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1"/>
            <p:cNvSpPr/>
            <p:nvPr/>
          </p:nvSpPr>
          <p:spPr>
            <a:xfrm>
              <a:off x="5559500" y="19881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41"/>
            <p:cNvSpPr/>
            <p:nvPr/>
          </p:nvSpPr>
          <p:spPr>
            <a:xfrm>
              <a:off x="5864300" y="19119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1"/>
            <p:cNvSpPr/>
            <p:nvPr/>
          </p:nvSpPr>
          <p:spPr>
            <a:xfrm>
              <a:off x="6169100" y="22167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1"/>
            <p:cNvSpPr/>
            <p:nvPr/>
          </p:nvSpPr>
          <p:spPr>
            <a:xfrm>
              <a:off x="6397700" y="18357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41"/>
            <p:cNvSpPr/>
            <p:nvPr/>
          </p:nvSpPr>
          <p:spPr>
            <a:xfrm>
              <a:off x="6550100" y="16833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41"/>
            <p:cNvSpPr/>
            <p:nvPr/>
          </p:nvSpPr>
          <p:spPr>
            <a:xfrm>
              <a:off x="6778700" y="14547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1"/>
            <p:cNvSpPr/>
            <p:nvPr/>
          </p:nvSpPr>
          <p:spPr>
            <a:xfrm>
              <a:off x="4492700" y="22167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1"/>
            <p:cNvSpPr/>
            <p:nvPr/>
          </p:nvSpPr>
          <p:spPr>
            <a:xfrm>
              <a:off x="4264100" y="25215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41"/>
            <p:cNvSpPr/>
            <p:nvPr/>
          </p:nvSpPr>
          <p:spPr>
            <a:xfrm>
              <a:off x="4721300" y="28263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1"/>
            <p:cNvSpPr/>
            <p:nvPr/>
          </p:nvSpPr>
          <p:spPr>
            <a:xfrm>
              <a:off x="5254700" y="25977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41"/>
            <p:cNvSpPr/>
            <p:nvPr/>
          </p:nvSpPr>
          <p:spPr>
            <a:xfrm>
              <a:off x="5330900" y="21405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41"/>
            <p:cNvSpPr/>
            <p:nvPr/>
          </p:nvSpPr>
          <p:spPr>
            <a:xfrm>
              <a:off x="5864300" y="22929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41"/>
            <p:cNvSpPr/>
            <p:nvPr/>
          </p:nvSpPr>
          <p:spPr>
            <a:xfrm>
              <a:off x="6169100" y="18357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41"/>
            <p:cNvSpPr/>
            <p:nvPr/>
          </p:nvSpPr>
          <p:spPr>
            <a:xfrm>
              <a:off x="3730700" y="32835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41"/>
            <p:cNvSpPr/>
            <p:nvPr/>
          </p:nvSpPr>
          <p:spPr>
            <a:xfrm>
              <a:off x="4568900" y="32073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41"/>
            <p:cNvSpPr/>
            <p:nvPr/>
          </p:nvSpPr>
          <p:spPr>
            <a:xfrm>
              <a:off x="3273500" y="32073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1"/>
            <p:cNvSpPr/>
            <p:nvPr/>
          </p:nvSpPr>
          <p:spPr>
            <a:xfrm>
              <a:off x="3197300" y="38169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41"/>
            <p:cNvSpPr/>
            <p:nvPr/>
          </p:nvSpPr>
          <p:spPr>
            <a:xfrm>
              <a:off x="2663900" y="32835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12" name="Google Shape;712;p41"/>
            <p:cNvCxnSpPr/>
            <p:nvPr/>
          </p:nvCxnSpPr>
          <p:spPr>
            <a:xfrm flipH="1" rot="10800000">
              <a:off x="2415881" y="1520894"/>
              <a:ext cx="4362900" cy="2314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13" name="Google Shape;713;p41"/>
            <p:cNvSpPr/>
            <p:nvPr/>
          </p:nvSpPr>
          <p:spPr>
            <a:xfrm>
              <a:off x="-3094050" y="1370700"/>
              <a:ext cx="4816500" cy="27750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1"/>
            <p:cNvSpPr/>
            <p:nvPr/>
          </p:nvSpPr>
          <p:spPr>
            <a:xfrm>
              <a:off x="-2955100" y="38162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1"/>
            <p:cNvSpPr/>
            <p:nvPr/>
          </p:nvSpPr>
          <p:spPr>
            <a:xfrm>
              <a:off x="-2726500" y="35114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41"/>
            <p:cNvSpPr/>
            <p:nvPr/>
          </p:nvSpPr>
          <p:spPr>
            <a:xfrm>
              <a:off x="-2421700" y="36638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41"/>
            <p:cNvSpPr/>
            <p:nvPr/>
          </p:nvSpPr>
          <p:spPr>
            <a:xfrm>
              <a:off x="-2269300" y="29780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41"/>
            <p:cNvSpPr/>
            <p:nvPr/>
          </p:nvSpPr>
          <p:spPr>
            <a:xfrm>
              <a:off x="-1812100" y="35876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41"/>
            <p:cNvSpPr/>
            <p:nvPr/>
          </p:nvSpPr>
          <p:spPr>
            <a:xfrm>
              <a:off x="-2116900" y="34352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41"/>
            <p:cNvSpPr/>
            <p:nvPr/>
          </p:nvSpPr>
          <p:spPr>
            <a:xfrm>
              <a:off x="-1812100" y="30542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41"/>
            <p:cNvSpPr/>
            <p:nvPr/>
          </p:nvSpPr>
          <p:spPr>
            <a:xfrm>
              <a:off x="-1507300" y="29780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41"/>
            <p:cNvSpPr/>
            <p:nvPr/>
          </p:nvSpPr>
          <p:spPr>
            <a:xfrm>
              <a:off x="-1202500" y="32828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41"/>
            <p:cNvSpPr/>
            <p:nvPr/>
          </p:nvSpPr>
          <p:spPr>
            <a:xfrm>
              <a:off x="-973900" y="2901875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41"/>
            <p:cNvSpPr/>
            <p:nvPr/>
          </p:nvSpPr>
          <p:spPr>
            <a:xfrm>
              <a:off x="-841300" y="27501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41"/>
            <p:cNvSpPr/>
            <p:nvPr/>
          </p:nvSpPr>
          <p:spPr>
            <a:xfrm>
              <a:off x="-612700" y="24453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41"/>
            <p:cNvSpPr/>
            <p:nvPr/>
          </p:nvSpPr>
          <p:spPr>
            <a:xfrm>
              <a:off x="-307900" y="25977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41"/>
            <p:cNvSpPr/>
            <p:nvPr/>
          </p:nvSpPr>
          <p:spPr>
            <a:xfrm>
              <a:off x="-155500" y="19119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1"/>
            <p:cNvSpPr/>
            <p:nvPr/>
          </p:nvSpPr>
          <p:spPr>
            <a:xfrm>
              <a:off x="301700" y="25215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1"/>
            <p:cNvSpPr/>
            <p:nvPr/>
          </p:nvSpPr>
          <p:spPr>
            <a:xfrm>
              <a:off x="-3100" y="23691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1"/>
            <p:cNvSpPr/>
            <p:nvPr/>
          </p:nvSpPr>
          <p:spPr>
            <a:xfrm>
              <a:off x="301700" y="19881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1"/>
            <p:cNvSpPr/>
            <p:nvPr/>
          </p:nvSpPr>
          <p:spPr>
            <a:xfrm>
              <a:off x="606500" y="19119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41"/>
            <p:cNvSpPr/>
            <p:nvPr/>
          </p:nvSpPr>
          <p:spPr>
            <a:xfrm>
              <a:off x="911300" y="22167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1"/>
            <p:cNvSpPr/>
            <p:nvPr/>
          </p:nvSpPr>
          <p:spPr>
            <a:xfrm>
              <a:off x="1139900" y="18357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41"/>
            <p:cNvSpPr/>
            <p:nvPr/>
          </p:nvSpPr>
          <p:spPr>
            <a:xfrm>
              <a:off x="1292300" y="1683300"/>
              <a:ext cx="132600" cy="13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1"/>
            <p:cNvSpPr/>
            <p:nvPr/>
          </p:nvSpPr>
          <p:spPr>
            <a:xfrm>
              <a:off x="-2880475" y="1511225"/>
              <a:ext cx="4498350" cy="2395000"/>
            </a:xfrm>
            <a:custGeom>
              <a:rect b="b" l="l" r="r" t="t"/>
              <a:pathLst>
                <a:path extrusionOk="0" h="95800" w="179934">
                  <a:moveTo>
                    <a:pt x="0" y="95800"/>
                  </a:moveTo>
                  <a:lnTo>
                    <a:pt x="8838" y="84135"/>
                  </a:lnTo>
                  <a:lnTo>
                    <a:pt x="21210" y="89437"/>
                  </a:lnTo>
                  <a:lnTo>
                    <a:pt x="26866" y="61510"/>
                  </a:lnTo>
                  <a:lnTo>
                    <a:pt x="34290" y="80953"/>
                  </a:lnTo>
                  <a:lnTo>
                    <a:pt x="45602" y="85549"/>
                  </a:lnTo>
                  <a:lnTo>
                    <a:pt x="45956" y="62571"/>
                  </a:lnTo>
                  <a:lnTo>
                    <a:pt x="57975" y="62571"/>
                  </a:lnTo>
                  <a:lnTo>
                    <a:pt x="70347" y="75650"/>
                  </a:lnTo>
                  <a:lnTo>
                    <a:pt x="79185" y="59036"/>
                  </a:lnTo>
                  <a:lnTo>
                    <a:pt x="85195" y="52319"/>
                  </a:lnTo>
                  <a:lnTo>
                    <a:pt x="93325" y="40653"/>
                  </a:lnTo>
                  <a:lnTo>
                    <a:pt x="106051" y="45249"/>
                  </a:lnTo>
                  <a:lnTo>
                    <a:pt x="111354" y="18029"/>
                  </a:lnTo>
                  <a:lnTo>
                    <a:pt x="116303" y="37472"/>
                  </a:lnTo>
                  <a:lnTo>
                    <a:pt x="129383" y="43128"/>
                  </a:lnTo>
                  <a:lnTo>
                    <a:pt x="129383" y="20150"/>
                  </a:lnTo>
                  <a:lnTo>
                    <a:pt x="141048" y="17676"/>
                  </a:lnTo>
                  <a:lnTo>
                    <a:pt x="156249" y="33230"/>
                  </a:lnTo>
                  <a:lnTo>
                    <a:pt x="162612" y="16262"/>
                  </a:lnTo>
                  <a:lnTo>
                    <a:pt x="170743" y="8838"/>
                  </a:lnTo>
                  <a:lnTo>
                    <a:pt x="179934" y="0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36" name="Google Shape;736;p41"/>
            <p:cNvSpPr/>
            <p:nvPr/>
          </p:nvSpPr>
          <p:spPr>
            <a:xfrm>
              <a:off x="-765100" y="22167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1"/>
            <p:cNvSpPr/>
            <p:nvPr/>
          </p:nvSpPr>
          <p:spPr>
            <a:xfrm>
              <a:off x="-993700" y="25215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1"/>
            <p:cNvSpPr/>
            <p:nvPr/>
          </p:nvSpPr>
          <p:spPr>
            <a:xfrm>
              <a:off x="-536500" y="28263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1"/>
            <p:cNvSpPr/>
            <p:nvPr/>
          </p:nvSpPr>
          <p:spPr>
            <a:xfrm>
              <a:off x="-3100" y="25977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1"/>
            <p:cNvSpPr/>
            <p:nvPr/>
          </p:nvSpPr>
          <p:spPr>
            <a:xfrm>
              <a:off x="73100" y="21405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1"/>
            <p:cNvSpPr/>
            <p:nvPr/>
          </p:nvSpPr>
          <p:spPr>
            <a:xfrm>
              <a:off x="606500" y="22929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1"/>
            <p:cNvSpPr/>
            <p:nvPr/>
          </p:nvSpPr>
          <p:spPr>
            <a:xfrm>
              <a:off x="911300" y="18357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1"/>
            <p:cNvSpPr/>
            <p:nvPr/>
          </p:nvSpPr>
          <p:spPr>
            <a:xfrm>
              <a:off x="-1527100" y="32835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41"/>
            <p:cNvSpPr/>
            <p:nvPr/>
          </p:nvSpPr>
          <p:spPr>
            <a:xfrm>
              <a:off x="-688900" y="32073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41"/>
            <p:cNvSpPr/>
            <p:nvPr/>
          </p:nvSpPr>
          <p:spPr>
            <a:xfrm>
              <a:off x="-1984300" y="32073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41"/>
            <p:cNvSpPr/>
            <p:nvPr/>
          </p:nvSpPr>
          <p:spPr>
            <a:xfrm>
              <a:off x="-2060500" y="38169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41"/>
            <p:cNvSpPr/>
            <p:nvPr/>
          </p:nvSpPr>
          <p:spPr>
            <a:xfrm>
              <a:off x="-2593900" y="3283500"/>
              <a:ext cx="132600" cy="132600"/>
            </a:xfrm>
            <a:prstGeom prst="ellipse">
              <a:avLst/>
            </a:prstGeom>
            <a:solidFill>
              <a:srgbClr val="00FFFF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Your reading today</a:t>
            </a:r>
            <a:endParaRPr/>
          </a:p>
        </p:txBody>
      </p:sp>
      <p:sp>
        <p:nvSpPr>
          <p:cNvPr id="753" name="Google Shape;753;p42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754" name="Google Shape;75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886" y="572700"/>
            <a:ext cx="8764228" cy="39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3"/>
          <p:cNvSpPr txBox="1"/>
          <p:nvPr>
            <p:ph type="title"/>
          </p:nvPr>
        </p:nvSpPr>
        <p:spPr>
          <a:xfrm>
            <a:off x="447450" y="526350"/>
            <a:ext cx="8249100" cy="40908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Artificial Neural Networks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Neural Networks</a:t>
            </a:r>
            <a:endParaRPr/>
          </a:p>
        </p:txBody>
      </p:sp>
      <p:sp>
        <p:nvSpPr>
          <p:cNvPr id="765" name="Google Shape;765;p44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66" name="Google Shape;766;p44"/>
          <p:cNvSpPr txBox="1"/>
          <p:nvPr>
            <p:ph idx="1" type="body"/>
          </p:nvPr>
        </p:nvSpPr>
        <p:spPr>
          <a:xfrm>
            <a:off x="0" y="572700"/>
            <a:ext cx="9144000" cy="3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Artificial neural networks</a:t>
            </a:r>
            <a:r>
              <a:rPr lang="en-US" sz="2400">
                <a:solidFill>
                  <a:schemeClr val="dk1"/>
                </a:solidFill>
              </a:rPr>
              <a:t> (ANNs, or NNs for short): a mathematical machine learning model that is based on the neurons in our brains.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Major subtypes: convolutional (CNNs) and recurrent (RNNs).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These form “deep machine learning”, which powers most of the AI related things in our lives today.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5"/>
          <p:cNvSpPr txBox="1"/>
          <p:nvPr>
            <p:ph type="title"/>
          </p:nvPr>
        </p:nvSpPr>
        <p:spPr>
          <a:xfrm>
            <a:off x="457200" y="1947636"/>
            <a:ext cx="25038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y = M*x + B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2" name="Google Shape;772;p45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400"/>
              <a:t> </a:t>
            </a:r>
            <a:endParaRPr i="1" sz="1400"/>
          </a:p>
        </p:txBody>
      </p:sp>
      <p:sp>
        <p:nvSpPr>
          <p:cNvPr id="773" name="Google Shape;773;p45"/>
          <p:cNvSpPr txBox="1"/>
          <p:nvPr/>
        </p:nvSpPr>
        <p:spPr>
          <a:xfrm>
            <a:off x="3311126" y="1150873"/>
            <a:ext cx="517800" cy="24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u="none" cap="none" strike="noStrike">
              <a:solidFill>
                <a:srgbClr val="BB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5"/>
          <p:cNvSpPr txBox="1"/>
          <p:nvPr/>
        </p:nvSpPr>
        <p:spPr>
          <a:xfrm>
            <a:off x="3923650" y="3698592"/>
            <a:ext cx="24813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5"/>
          <p:cNvSpPr txBox="1"/>
          <p:nvPr/>
        </p:nvSpPr>
        <p:spPr>
          <a:xfrm>
            <a:off x="3714716" y="1150873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5"/>
          <p:cNvSpPr txBox="1"/>
          <p:nvPr/>
        </p:nvSpPr>
        <p:spPr>
          <a:xfrm>
            <a:off x="3714716" y="1724762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5"/>
          <p:cNvSpPr txBox="1"/>
          <p:nvPr/>
        </p:nvSpPr>
        <p:spPr>
          <a:xfrm>
            <a:off x="3714716" y="2298650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5"/>
          <p:cNvSpPr txBox="1"/>
          <p:nvPr/>
        </p:nvSpPr>
        <p:spPr>
          <a:xfrm>
            <a:off x="3714716" y="2872539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5"/>
          <p:cNvSpPr txBox="1"/>
          <p:nvPr/>
        </p:nvSpPr>
        <p:spPr>
          <a:xfrm>
            <a:off x="3714716" y="3446428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45"/>
          <p:cNvSpPr txBox="1"/>
          <p:nvPr/>
        </p:nvSpPr>
        <p:spPr>
          <a:xfrm>
            <a:off x="3714716" y="3159483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5"/>
          <p:cNvSpPr txBox="1"/>
          <p:nvPr/>
        </p:nvSpPr>
        <p:spPr>
          <a:xfrm>
            <a:off x="3714716" y="1437817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5"/>
          <p:cNvSpPr txBox="1"/>
          <p:nvPr/>
        </p:nvSpPr>
        <p:spPr>
          <a:xfrm>
            <a:off x="3714716" y="2011706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5"/>
          <p:cNvSpPr txBox="1"/>
          <p:nvPr/>
        </p:nvSpPr>
        <p:spPr>
          <a:xfrm>
            <a:off x="3714716" y="2585595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5"/>
          <p:cNvSpPr txBox="1"/>
          <p:nvPr/>
        </p:nvSpPr>
        <p:spPr>
          <a:xfrm>
            <a:off x="3823268" y="3590001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5"/>
          <p:cNvSpPr txBox="1"/>
          <p:nvPr/>
        </p:nvSpPr>
        <p:spPr>
          <a:xfrm>
            <a:off x="4119561" y="3590001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45"/>
          <p:cNvSpPr txBox="1"/>
          <p:nvPr/>
        </p:nvSpPr>
        <p:spPr>
          <a:xfrm>
            <a:off x="4415855" y="3590001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5"/>
          <p:cNvSpPr txBox="1"/>
          <p:nvPr/>
        </p:nvSpPr>
        <p:spPr>
          <a:xfrm>
            <a:off x="4712149" y="3590001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45"/>
          <p:cNvSpPr txBox="1"/>
          <p:nvPr/>
        </p:nvSpPr>
        <p:spPr>
          <a:xfrm>
            <a:off x="5008442" y="3590001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45"/>
          <p:cNvSpPr txBox="1"/>
          <p:nvPr/>
        </p:nvSpPr>
        <p:spPr>
          <a:xfrm>
            <a:off x="5304736" y="3590001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45"/>
          <p:cNvSpPr txBox="1"/>
          <p:nvPr/>
        </p:nvSpPr>
        <p:spPr>
          <a:xfrm>
            <a:off x="5601029" y="3590001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5"/>
          <p:cNvSpPr txBox="1"/>
          <p:nvPr/>
        </p:nvSpPr>
        <p:spPr>
          <a:xfrm>
            <a:off x="5897323" y="3590001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45"/>
          <p:cNvSpPr txBox="1"/>
          <p:nvPr/>
        </p:nvSpPr>
        <p:spPr>
          <a:xfrm>
            <a:off x="6193616" y="3590001"/>
            <a:ext cx="211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5"/>
          <p:cNvSpPr/>
          <p:nvPr/>
        </p:nvSpPr>
        <p:spPr>
          <a:xfrm>
            <a:off x="3923640" y="1124208"/>
            <a:ext cx="2481300" cy="24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45"/>
          <p:cNvSpPr txBox="1"/>
          <p:nvPr>
            <p:ph type="title"/>
          </p:nvPr>
        </p:nvSpPr>
        <p:spPr>
          <a:xfrm>
            <a:off x="7003350" y="1773375"/>
            <a:ext cx="1542300" cy="723900"/>
          </a:xfrm>
          <a:prstGeom prst="rect">
            <a:avLst/>
          </a:prstGeom>
          <a:noFill/>
          <a:ln cap="flat" cmpd="sng" w="76200">
            <a:solidFill>
              <a:srgbClr val="2297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M = 1</a:t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B = 2</a:t>
            </a:r>
            <a:endParaRPr sz="2400"/>
          </a:p>
        </p:txBody>
      </p:sp>
      <p:sp>
        <p:nvSpPr>
          <p:cNvPr id="795" name="Google Shape;795;p45"/>
          <p:cNvSpPr txBox="1"/>
          <p:nvPr>
            <p:ph type="title"/>
          </p:nvPr>
        </p:nvSpPr>
        <p:spPr>
          <a:xfrm>
            <a:off x="6404838" y="974325"/>
            <a:ext cx="2739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For x = 4, y = 6</a:t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For x = 1, y = 3</a:t>
            </a:r>
            <a:endParaRPr sz="2400"/>
          </a:p>
        </p:txBody>
      </p:sp>
      <p:sp>
        <p:nvSpPr>
          <p:cNvPr id="796" name="Google Shape;796;p45"/>
          <p:cNvSpPr/>
          <p:nvPr/>
        </p:nvSpPr>
        <p:spPr>
          <a:xfrm>
            <a:off x="5036002" y="1731011"/>
            <a:ext cx="166500" cy="166500"/>
          </a:xfrm>
          <a:prstGeom prst="ellipse">
            <a:avLst/>
          </a:prstGeom>
          <a:solidFill>
            <a:srgbClr val="222222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5"/>
          <p:cNvSpPr/>
          <p:nvPr/>
        </p:nvSpPr>
        <p:spPr>
          <a:xfrm>
            <a:off x="4121602" y="2611179"/>
            <a:ext cx="166500" cy="166500"/>
          </a:xfrm>
          <a:prstGeom prst="ellipse">
            <a:avLst/>
          </a:prstGeom>
          <a:solidFill>
            <a:srgbClr val="222222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8" name="Google Shape;798;p45"/>
          <p:cNvCxnSpPr/>
          <p:nvPr/>
        </p:nvCxnSpPr>
        <p:spPr>
          <a:xfrm flipH="1" rot="10800000">
            <a:off x="3954300" y="1153808"/>
            <a:ext cx="1832100" cy="1832100"/>
          </a:xfrm>
          <a:prstGeom prst="straightConnector1">
            <a:avLst/>
          </a:prstGeom>
          <a:noFill/>
          <a:ln cap="flat" cmpd="sng" w="28575">
            <a:solidFill>
              <a:srgbClr val="BB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99" name="Google Shape;799;p45"/>
          <p:cNvSpPr/>
          <p:nvPr/>
        </p:nvSpPr>
        <p:spPr>
          <a:xfrm>
            <a:off x="7560588" y="2723625"/>
            <a:ext cx="427800" cy="572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5"/>
          <p:cNvSpPr txBox="1"/>
          <p:nvPr/>
        </p:nvSpPr>
        <p:spPr>
          <a:xfrm>
            <a:off x="6404838" y="3522675"/>
            <a:ext cx="273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</a:rPr>
              <a:t>Learned from the x and y data!</a:t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801" name="Google Shape;801;p4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Solve complex mathematical problems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6" name="Google Shape;806;p46"/>
          <p:cNvGrpSpPr/>
          <p:nvPr/>
        </p:nvGrpSpPr>
        <p:grpSpPr>
          <a:xfrm>
            <a:off x="3145124" y="1783538"/>
            <a:ext cx="3615752" cy="1576425"/>
            <a:chOff x="2839332" y="656052"/>
            <a:chExt cx="3615752" cy="1576425"/>
          </a:xfrm>
        </p:grpSpPr>
        <p:sp>
          <p:nvSpPr>
            <p:cNvPr id="807" name="Google Shape;807;p46"/>
            <p:cNvSpPr/>
            <p:nvPr/>
          </p:nvSpPr>
          <p:spPr>
            <a:xfrm>
              <a:off x="2839332" y="1532877"/>
              <a:ext cx="699600" cy="699600"/>
            </a:xfrm>
            <a:prstGeom prst="ellipse">
              <a:avLst/>
            </a:prstGeom>
            <a:solidFill>
              <a:srgbClr val="FFF2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baseline="-2500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46"/>
            <p:cNvSpPr/>
            <p:nvPr/>
          </p:nvSpPr>
          <p:spPr>
            <a:xfrm>
              <a:off x="5755484" y="1094464"/>
              <a:ext cx="699600" cy="699600"/>
            </a:xfrm>
            <a:prstGeom prst="ellipse">
              <a:avLst/>
            </a:prstGeom>
            <a:solidFill>
              <a:srgbClr val="EAD1D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46"/>
            <p:cNvSpPr/>
            <p:nvPr/>
          </p:nvSpPr>
          <p:spPr>
            <a:xfrm>
              <a:off x="2839332" y="656052"/>
              <a:ext cx="699600" cy="699600"/>
            </a:xfrm>
            <a:prstGeom prst="ellipse">
              <a:avLst/>
            </a:prstGeom>
            <a:solidFill>
              <a:srgbClr val="FFF2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baseline="-2500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0" name="Google Shape;810;p46"/>
            <p:cNvCxnSpPr>
              <a:stCxn id="807" idx="6"/>
              <a:endCxn id="808" idx="2"/>
            </p:cNvCxnSpPr>
            <p:nvPr/>
          </p:nvCxnSpPr>
          <p:spPr>
            <a:xfrm flipH="1" rot="10800000">
              <a:off x="3538932" y="1444377"/>
              <a:ext cx="2216700" cy="43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11" name="Google Shape;811;p46"/>
            <p:cNvSpPr txBox="1"/>
            <p:nvPr/>
          </p:nvSpPr>
          <p:spPr>
            <a:xfrm>
              <a:off x="4236505" y="1275545"/>
              <a:ext cx="504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2" name="Google Shape;812;p46"/>
            <p:cNvCxnSpPr>
              <a:stCxn id="809" idx="6"/>
              <a:endCxn id="808" idx="2"/>
            </p:cNvCxnSpPr>
            <p:nvPr/>
          </p:nvCxnSpPr>
          <p:spPr>
            <a:xfrm>
              <a:off x="3538932" y="1005852"/>
              <a:ext cx="2216700" cy="43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13" name="Google Shape;813;p46"/>
            <p:cNvSpPr txBox="1"/>
            <p:nvPr/>
          </p:nvSpPr>
          <p:spPr>
            <a:xfrm>
              <a:off x="4236505" y="818345"/>
              <a:ext cx="504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4" name="Google Shape;814;p46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400"/>
              <a:t> </a:t>
            </a:r>
            <a:endParaRPr i="1" sz="1400"/>
          </a:p>
        </p:txBody>
      </p:sp>
      <p:sp>
        <p:nvSpPr>
          <p:cNvPr id="815" name="Google Shape;815;p46"/>
          <p:cNvSpPr txBox="1"/>
          <p:nvPr>
            <p:ph type="title"/>
          </p:nvPr>
        </p:nvSpPr>
        <p:spPr>
          <a:xfrm>
            <a:off x="457200" y="1947636"/>
            <a:ext cx="25038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x*M + 1*B = y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6" name="Google Shape;816;p4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Solve complex mathematical problems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7"/>
          <p:cNvSpPr/>
          <p:nvPr/>
        </p:nvSpPr>
        <p:spPr>
          <a:xfrm>
            <a:off x="3145124" y="2660363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47"/>
          <p:cNvSpPr/>
          <p:nvPr/>
        </p:nvSpPr>
        <p:spPr>
          <a:xfrm>
            <a:off x="6061276" y="2221950"/>
            <a:ext cx="699600" cy="699600"/>
          </a:xfrm>
          <a:prstGeom prst="ellipse">
            <a:avLst/>
          </a:prstGeom>
          <a:solidFill>
            <a:srgbClr val="EAD1DC"/>
          </a:solidFill>
          <a:ln cap="flat" cmpd="sng" w="762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47"/>
          <p:cNvSpPr/>
          <p:nvPr/>
        </p:nvSpPr>
        <p:spPr>
          <a:xfrm>
            <a:off x="3145124" y="1783538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4" name="Google Shape;824;p47"/>
          <p:cNvCxnSpPr>
            <a:stCxn id="821" idx="6"/>
            <a:endCxn id="822" idx="2"/>
          </p:cNvCxnSpPr>
          <p:nvPr/>
        </p:nvCxnSpPr>
        <p:spPr>
          <a:xfrm flipH="1" rot="10800000">
            <a:off x="3844724" y="2571863"/>
            <a:ext cx="2216700" cy="43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5" name="Google Shape;825;p47"/>
          <p:cNvSpPr txBox="1"/>
          <p:nvPr/>
        </p:nvSpPr>
        <p:spPr>
          <a:xfrm>
            <a:off x="4542297" y="2403031"/>
            <a:ext cx="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6" name="Google Shape;826;p47"/>
          <p:cNvCxnSpPr>
            <a:stCxn id="823" idx="6"/>
            <a:endCxn id="822" idx="2"/>
          </p:cNvCxnSpPr>
          <p:nvPr/>
        </p:nvCxnSpPr>
        <p:spPr>
          <a:xfrm>
            <a:off x="3844724" y="2133338"/>
            <a:ext cx="2216700" cy="43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7" name="Google Shape;827;p47"/>
          <p:cNvSpPr txBox="1"/>
          <p:nvPr/>
        </p:nvSpPr>
        <p:spPr>
          <a:xfrm>
            <a:off x="4542297" y="1945831"/>
            <a:ext cx="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47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400"/>
              <a:t> </a:t>
            </a:r>
            <a:endParaRPr i="1" sz="1400"/>
          </a:p>
        </p:txBody>
      </p:sp>
      <p:sp>
        <p:nvSpPr>
          <p:cNvPr id="829" name="Google Shape;829;p47"/>
          <p:cNvSpPr/>
          <p:nvPr/>
        </p:nvSpPr>
        <p:spPr>
          <a:xfrm rot="5400000">
            <a:off x="3208575" y="3160025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47"/>
          <p:cNvSpPr txBox="1"/>
          <p:nvPr/>
        </p:nvSpPr>
        <p:spPr>
          <a:xfrm>
            <a:off x="903975" y="3867300"/>
            <a:ext cx="518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Circles = </a:t>
            </a:r>
            <a:r>
              <a:rPr b="1" i="0" lang="en-US" sz="2400" u="none" cap="none" strike="noStrike">
                <a:solidFill>
                  <a:srgbClr val="000000"/>
                </a:solidFill>
              </a:rPr>
              <a:t>Nodes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Variables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47"/>
          <p:cNvSpPr txBox="1"/>
          <p:nvPr>
            <p:ph type="title"/>
          </p:nvPr>
        </p:nvSpPr>
        <p:spPr>
          <a:xfrm>
            <a:off x="457200" y="1947636"/>
            <a:ext cx="25038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highlight>
                  <a:srgbClr val="FF0000"/>
                </a:highlight>
              </a:rPr>
              <a:t>x</a:t>
            </a:r>
            <a:r>
              <a:rPr lang="en-US" sz="2400"/>
              <a:t>*M + </a:t>
            </a:r>
            <a:r>
              <a:rPr b="1" lang="en-US" sz="2400">
                <a:solidFill>
                  <a:srgbClr val="222222"/>
                </a:solidFill>
                <a:highlight>
                  <a:srgbClr val="FF0000"/>
                </a:highlight>
              </a:rPr>
              <a:t>1</a:t>
            </a:r>
            <a:r>
              <a:rPr lang="en-US" sz="2400"/>
              <a:t>*B = </a:t>
            </a:r>
            <a:r>
              <a:rPr b="1" lang="en-US" sz="2400">
                <a:highlight>
                  <a:srgbClr val="00FFFF"/>
                </a:highlight>
              </a:rPr>
              <a:t>y</a:t>
            </a:r>
            <a:endParaRPr b="1" sz="2400">
              <a:highlight>
                <a:srgbClr val="00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2" name="Google Shape;832;p4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Solve complex mathematical problems</a:t>
            </a:r>
            <a:endParaRPr/>
          </a:p>
        </p:txBody>
      </p:sp>
      <p:sp>
        <p:nvSpPr>
          <p:cNvPr id="833" name="Google Shape;833;p47"/>
          <p:cNvSpPr/>
          <p:nvPr/>
        </p:nvSpPr>
        <p:spPr>
          <a:xfrm flipH="1" rot="5400000">
            <a:off x="3208575" y="10859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47"/>
          <p:cNvSpPr txBox="1"/>
          <p:nvPr/>
        </p:nvSpPr>
        <p:spPr>
          <a:xfrm>
            <a:off x="1807875" y="9804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47"/>
          <p:cNvSpPr/>
          <p:nvPr/>
        </p:nvSpPr>
        <p:spPr>
          <a:xfrm flipH="1" rot="5400000">
            <a:off x="6113843" y="14669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47"/>
          <p:cNvSpPr txBox="1"/>
          <p:nvPr/>
        </p:nvSpPr>
        <p:spPr>
          <a:xfrm>
            <a:off x="4713143" y="13614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8"/>
          <p:cNvSpPr txBox="1"/>
          <p:nvPr>
            <p:ph type="title"/>
          </p:nvPr>
        </p:nvSpPr>
        <p:spPr>
          <a:xfrm>
            <a:off x="457200" y="1947636"/>
            <a:ext cx="25038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x*</a:t>
            </a:r>
            <a:r>
              <a:rPr b="1" lang="en-US" sz="2400">
                <a:highlight>
                  <a:srgbClr val="FF00FF"/>
                </a:highlight>
              </a:rPr>
              <a:t>M</a:t>
            </a:r>
            <a:r>
              <a:rPr lang="en-US" sz="2400"/>
              <a:t> + 1*</a:t>
            </a:r>
            <a:r>
              <a:rPr b="1" lang="en-US" sz="2400">
                <a:highlight>
                  <a:srgbClr val="FF00FF"/>
                </a:highlight>
              </a:rPr>
              <a:t>B</a:t>
            </a:r>
            <a:r>
              <a:rPr lang="en-US" sz="2400"/>
              <a:t> = y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2" name="Google Shape;842;p48"/>
          <p:cNvSpPr/>
          <p:nvPr/>
        </p:nvSpPr>
        <p:spPr>
          <a:xfrm>
            <a:off x="3145124" y="2660363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48"/>
          <p:cNvSpPr/>
          <p:nvPr/>
        </p:nvSpPr>
        <p:spPr>
          <a:xfrm>
            <a:off x="6061276" y="2221950"/>
            <a:ext cx="699600" cy="6996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48"/>
          <p:cNvSpPr/>
          <p:nvPr/>
        </p:nvSpPr>
        <p:spPr>
          <a:xfrm>
            <a:off x="3145124" y="1783538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5" name="Google Shape;845;p48"/>
          <p:cNvCxnSpPr>
            <a:stCxn id="842" idx="6"/>
            <a:endCxn id="843" idx="2"/>
          </p:cNvCxnSpPr>
          <p:nvPr/>
        </p:nvCxnSpPr>
        <p:spPr>
          <a:xfrm flipH="1" rot="10800000">
            <a:off x="3844724" y="2571863"/>
            <a:ext cx="2216700" cy="438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6" name="Google Shape;846;p48"/>
          <p:cNvSpPr txBox="1"/>
          <p:nvPr/>
        </p:nvSpPr>
        <p:spPr>
          <a:xfrm>
            <a:off x="4542297" y="2403031"/>
            <a:ext cx="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7" name="Google Shape;847;p48"/>
          <p:cNvCxnSpPr>
            <a:stCxn id="844" idx="6"/>
            <a:endCxn id="843" idx="2"/>
          </p:cNvCxnSpPr>
          <p:nvPr/>
        </p:nvCxnSpPr>
        <p:spPr>
          <a:xfrm>
            <a:off x="3844724" y="2133338"/>
            <a:ext cx="2216700" cy="438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8" name="Google Shape;848;p48"/>
          <p:cNvSpPr txBox="1"/>
          <p:nvPr/>
        </p:nvSpPr>
        <p:spPr>
          <a:xfrm>
            <a:off x="4542297" y="1945831"/>
            <a:ext cx="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8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400"/>
              <a:t> </a:t>
            </a:r>
            <a:endParaRPr i="1" sz="1400"/>
          </a:p>
        </p:txBody>
      </p:sp>
      <p:sp>
        <p:nvSpPr>
          <p:cNvPr id="850" name="Google Shape;850;p48"/>
          <p:cNvSpPr/>
          <p:nvPr/>
        </p:nvSpPr>
        <p:spPr>
          <a:xfrm rot="5400000">
            <a:off x="4511709" y="2931425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48"/>
          <p:cNvSpPr txBox="1"/>
          <p:nvPr/>
        </p:nvSpPr>
        <p:spPr>
          <a:xfrm>
            <a:off x="1710146" y="3638700"/>
            <a:ext cx="617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Arrows = </a:t>
            </a:r>
            <a:r>
              <a:rPr b="1" i="0" lang="en-US" sz="2400" u="none" cap="none" strike="noStrike">
                <a:solidFill>
                  <a:srgbClr val="000000"/>
                </a:solidFill>
              </a:rPr>
              <a:t>Weights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Coefficients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Solve complex mathematical problems</a:t>
            </a:r>
            <a:endParaRPr/>
          </a:p>
        </p:txBody>
      </p:sp>
      <p:sp>
        <p:nvSpPr>
          <p:cNvPr id="853" name="Google Shape;853;p48"/>
          <p:cNvSpPr/>
          <p:nvPr/>
        </p:nvSpPr>
        <p:spPr>
          <a:xfrm flipH="1" rot="5400000">
            <a:off x="3208575" y="10859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8"/>
          <p:cNvSpPr txBox="1"/>
          <p:nvPr/>
        </p:nvSpPr>
        <p:spPr>
          <a:xfrm>
            <a:off x="1807875" y="9804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8"/>
          <p:cNvSpPr/>
          <p:nvPr/>
        </p:nvSpPr>
        <p:spPr>
          <a:xfrm flipH="1" rot="5400000">
            <a:off x="6113843" y="14669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8"/>
          <p:cNvSpPr txBox="1"/>
          <p:nvPr/>
        </p:nvSpPr>
        <p:spPr>
          <a:xfrm>
            <a:off x="4713143" y="13614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1" name="Google Shape;861;p49"/>
          <p:cNvGrpSpPr/>
          <p:nvPr/>
        </p:nvGrpSpPr>
        <p:grpSpPr>
          <a:xfrm>
            <a:off x="3145124" y="1783538"/>
            <a:ext cx="3615752" cy="1576425"/>
            <a:chOff x="2839332" y="656052"/>
            <a:chExt cx="3615752" cy="1576425"/>
          </a:xfrm>
        </p:grpSpPr>
        <p:sp>
          <p:nvSpPr>
            <p:cNvPr id="862" name="Google Shape;862;p49"/>
            <p:cNvSpPr/>
            <p:nvPr/>
          </p:nvSpPr>
          <p:spPr>
            <a:xfrm>
              <a:off x="2839332" y="1532877"/>
              <a:ext cx="699600" cy="699600"/>
            </a:xfrm>
            <a:prstGeom prst="ellipse">
              <a:avLst/>
            </a:prstGeom>
            <a:solidFill>
              <a:srgbClr val="FFF2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4;1</a:t>
              </a:r>
              <a:endParaRPr b="0" baseline="-2500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49"/>
            <p:cNvSpPr/>
            <p:nvPr/>
          </p:nvSpPr>
          <p:spPr>
            <a:xfrm>
              <a:off x="5755484" y="1094464"/>
              <a:ext cx="699600" cy="699600"/>
            </a:xfrm>
            <a:prstGeom prst="ellipse">
              <a:avLst/>
            </a:prstGeom>
            <a:solidFill>
              <a:srgbClr val="EAD1D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6;3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49"/>
            <p:cNvSpPr/>
            <p:nvPr/>
          </p:nvSpPr>
          <p:spPr>
            <a:xfrm>
              <a:off x="2839332" y="656052"/>
              <a:ext cx="699600" cy="699600"/>
            </a:xfrm>
            <a:prstGeom prst="ellipse">
              <a:avLst/>
            </a:prstGeom>
            <a:solidFill>
              <a:srgbClr val="FFF2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baseline="-2500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5" name="Google Shape;865;p49"/>
            <p:cNvCxnSpPr>
              <a:stCxn id="862" idx="6"/>
              <a:endCxn id="863" idx="2"/>
            </p:cNvCxnSpPr>
            <p:nvPr/>
          </p:nvCxnSpPr>
          <p:spPr>
            <a:xfrm flipH="1" rot="10800000">
              <a:off x="3538932" y="1444377"/>
              <a:ext cx="2216700" cy="43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66" name="Google Shape;866;p49"/>
            <p:cNvSpPr txBox="1"/>
            <p:nvPr/>
          </p:nvSpPr>
          <p:spPr>
            <a:xfrm>
              <a:off x="4122258" y="1275539"/>
              <a:ext cx="754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7" name="Google Shape;867;p49"/>
            <p:cNvCxnSpPr>
              <a:stCxn id="864" idx="6"/>
              <a:endCxn id="863" idx="2"/>
            </p:cNvCxnSpPr>
            <p:nvPr/>
          </p:nvCxnSpPr>
          <p:spPr>
            <a:xfrm>
              <a:off x="3538932" y="1005852"/>
              <a:ext cx="2216700" cy="43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68" name="Google Shape;868;p49"/>
            <p:cNvSpPr txBox="1"/>
            <p:nvPr/>
          </p:nvSpPr>
          <p:spPr>
            <a:xfrm>
              <a:off x="4122258" y="818339"/>
              <a:ext cx="754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9" name="Google Shape;869;p49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400"/>
              <a:t> </a:t>
            </a:r>
            <a:endParaRPr i="1" sz="1400"/>
          </a:p>
        </p:txBody>
      </p:sp>
      <p:sp>
        <p:nvSpPr>
          <p:cNvPr id="870" name="Google Shape;870;p49"/>
          <p:cNvSpPr txBox="1"/>
          <p:nvPr>
            <p:ph type="title"/>
          </p:nvPr>
        </p:nvSpPr>
        <p:spPr>
          <a:xfrm>
            <a:off x="457200" y="1947636"/>
            <a:ext cx="25038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x*M + 1*B = y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1" name="Google Shape;871;p4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Solve complex mathematical problems</a:t>
            </a:r>
            <a:endParaRPr/>
          </a:p>
        </p:txBody>
      </p:sp>
      <p:sp>
        <p:nvSpPr>
          <p:cNvPr id="872" name="Google Shape;872;p49"/>
          <p:cNvSpPr/>
          <p:nvPr/>
        </p:nvSpPr>
        <p:spPr>
          <a:xfrm flipH="1" rot="5400000">
            <a:off x="3208575" y="10859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9"/>
          <p:cNvSpPr txBox="1"/>
          <p:nvPr/>
        </p:nvSpPr>
        <p:spPr>
          <a:xfrm>
            <a:off x="1807875" y="9804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49"/>
          <p:cNvSpPr/>
          <p:nvPr/>
        </p:nvSpPr>
        <p:spPr>
          <a:xfrm flipH="1" rot="5400000">
            <a:off x="6113843" y="14669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49"/>
          <p:cNvSpPr txBox="1"/>
          <p:nvPr/>
        </p:nvSpPr>
        <p:spPr>
          <a:xfrm>
            <a:off x="4713143" y="13614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50"/>
          <p:cNvSpPr/>
          <p:nvPr/>
        </p:nvSpPr>
        <p:spPr>
          <a:xfrm>
            <a:off x="3145124" y="22210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50"/>
          <p:cNvSpPr/>
          <p:nvPr/>
        </p:nvSpPr>
        <p:spPr>
          <a:xfrm>
            <a:off x="6061276" y="2182950"/>
            <a:ext cx="699600" cy="6996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50"/>
          <p:cNvSpPr/>
          <p:nvPr/>
        </p:nvSpPr>
        <p:spPr>
          <a:xfrm>
            <a:off x="3145124" y="13447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3" name="Google Shape;883;p50"/>
          <p:cNvCxnSpPr>
            <a:stCxn id="880" idx="6"/>
            <a:endCxn id="881" idx="2"/>
          </p:cNvCxnSpPr>
          <p:nvPr/>
        </p:nvCxnSpPr>
        <p:spPr>
          <a:xfrm flipH="1" rot="10800000">
            <a:off x="3844724" y="2532750"/>
            <a:ext cx="2216700" cy="3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4" name="Google Shape;884;p50"/>
          <p:cNvSpPr txBox="1"/>
          <p:nvPr/>
        </p:nvSpPr>
        <p:spPr>
          <a:xfrm>
            <a:off x="4542297" y="2192844"/>
            <a:ext cx="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5" name="Google Shape;885;p50"/>
          <p:cNvCxnSpPr>
            <a:stCxn id="882" idx="6"/>
            <a:endCxn id="881" idx="2"/>
          </p:cNvCxnSpPr>
          <p:nvPr/>
        </p:nvCxnSpPr>
        <p:spPr>
          <a:xfrm>
            <a:off x="3844724" y="1694550"/>
            <a:ext cx="2216700" cy="83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6" name="Google Shape;886;p50"/>
          <p:cNvSpPr txBox="1"/>
          <p:nvPr/>
        </p:nvSpPr>
        <p:spPr>
          <a:xfrm>
            <a:off x="4542297" y="1659444"/>
            <a:ext cx="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50"/>
          <p:cNvSpPr/>
          <p:nvPr/>
        </p:nvSpPr>
        <p:spPr>
          <a:xfrm>
            <a:off x="3145124" y="30973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8" name="Google Shape;888;p50"/>
          <p:cNvCxnSpPr>
            <a:stCxn id="887" idx="6"/>
            <a:endCxn id="881" idx="2"/>
          </p:cNvCxnSpPr>
          <p:nvPr/>
        </p:nvCxnSpPr>
        <p:spPr>
          <a:xfrm flipH="1" rot="10800000">
            <a:off x="3844724" y="2532750"/>
            <a:ext cx="2216700" cy="91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9" name="Google Shape;889;p50"/>
          <p:cNvSpPr txBox="1"/>
          <p:nvPr/>
        </p:nvSpPr>
        <p:spPr>
          <a:xfrm>
            <a:off x="4542297" y="2650044"/>
            <a:ext cx="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50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400"/>
              <a:t> </a:t>
            </a:r>
            <a:endParaRPr i="1" sz="1400"/>
          </a:p>
        </p:txBody>
      </p:sp>
      <p:sp>
        <p:nvSpPr>
          <p:cNvPr id="891" name="Google Shape;891;p50"/>
          <p:cNvSpPr txBox="1"/>
          <p:nvPr>
            <p:ph type="title"/>
          </p:nvPr>
        </p:nvSpPr>
        <p:spPr>
          <a:xfrm>
            <a:off x="0" y="1989450"/>
            <a:ext cx="29610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x*M + z*N + 1*B = y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2" name="Google Shape;892;p50"/>
          <p:cNvSpPr/>
          <p:nvPr/>
        </p:nvSpPr>
        <p:spPr>
          <a:xfrm flipH="1" rot="5400000">
            <a:off x="3208575" y="7811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50"/>
          <p:cNvSpPr txBox="1"/>
          <p:nvPr/>
        </p:nvSpPr>
        <p:spPr>
          <a:xfrm>
            <a:off x="1807875" y="6756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50"/>
          <p:cNvSpPr/>
          <p:nvPr/>
        </p:nvSpPr>
        <p:spPr>
          <a:xfrm flipH="1" rot="5400000">
            <a:off x="6113843" y="14669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50"/>
          <p:cNvSpPr txBox="1"/>
          <p:nvPr/>
        </p:nvSpPr>
        <p:spPr>
          <a:xfrm>
            <a:off x="4713143" y="13614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5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Solve complex mathematical problems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1"/>
          <p:cNvSpPr/>
          <p:nvPr/>
        </p:nvSpPr>
        <p:spPr>
          <a:xfrm>
            <a:off x="3145124" y="22219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51"/>
          <p:cNvSpPr/>
          <p:nvPr/>
        </p:nvSpPr>
        <p:spPr>
          <a:xfrm>
            <a:off x="6061276" y="2183850"/>
            <a:ext cx="699600" cy="6996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51"/>
          <p:cNvSpPr/>
          <p:nvPr/>
        </p:nvSpPr>
        <p:spPr>
          <a:xfrm>
            <a:off x="3145124" y="13456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4" name="Google Shape;904;p51"/>
          <p:cNvCxnSpPr>
            <a:stCxn id="905" idx="6"/>
            <a:endCxn id="906" idx="2"/>
          </p:cNvCxnSpPr>
          <p:nvPr/>
        </p:nvCxnSpPr>
        <p:spPr>
          <a:xfrm flipH="1" rot="10800000">
            <a:off x="3844724" y="3009750"/>
            <a:ext cx="758400" cy="43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5" name="Google Shape;905;p51"/>
          <p:cNvSpPr/>
          <p:nvPr/>
        </p:nvSpPr>
        <p:spPr>
          <a:xfrm>
            <a:off x="3145124" y="30982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51"/>
          <p:cNvSpPr/>
          <p:nvPr/>
        </p:nvSpPr>
        <p:spPr>
          <a:xfrm>
            <a:off x="4603195" y="2660100"/>
            <a:ext cx="699600" cy="699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7" name="Google Shape;907;p51"/>
          <p:cNvCxnSpPr>
            <a:stCxn id="901" idx="6"/>
            <a:endCxn id="906" idx="2"/>
          </p:cNvCxnSpPr>
          <p:nvPr/>
        </p:nvCxnSpPr>
        <p:spPr>
          <a:xfrm>
            <a:off x="3844724" y="2571750"/>
            <a:ext cx="758400" cy="43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8" name="Google Shape;908;p51"/>
          <p:cNvCxnSpPr>
            <a:stCxn id="903" idx="6"/>
            <a:endCxn id="902" idx="2"/>
          </p:cNvCxnSpPr>
          <p:nvPr/>
        </p:nvCxnSpPr>
        <p:spPr>
          <a:xfrm>
            <a:off x="3844724" y="1695450"/>
            <a:ext cx="2216700" cy="83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9" name="Google Shape;909;p51"/>
          <p:cNvCxnSpPr>
            <a:stCxn id="906" idx="6"/>
            <a:endCxn id="902" idx="2"/>
          </p:cNvCxnSpPr>
          <p:nvPr/>
        </p:nvCxnSpPr>
        <p:spPr>
          <a:xfrm flipH="1" rot="10800000">
            <a:off x="5302795" y="2533800"/>
            <a:ext cx="758400" cy="47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0" name="Google Shape;910;p51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400"/>
              <a:t> </a:t>
            </a:r>
            <a:endParaRPr i="1" sz="1400"/>
          </a:p>
        </p:txBody>
      </p:sp>
      <p:sp>
        <p:nvSpPr>
          <p:cNvPr id="911" name="Google Shape;911;p51"/>
          <p:cNvSpPr/>
          <p:nvPr/>
        </p:nvSpPr>
        <p:spPr>
          <a:xfrm flipH="1" rot="-5400000">
            <a:off x="4681925" y="3181759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51"/>
          <p:cNvSpPr txBox="1"/>
          <p:nvPr/>
        </p:nvSpPr>
        <p:spPr>
          <a:xfrm flipH="1">
            <a:off x="3281225" y="3859696"/>
            <a:ext cx="337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Hidden Node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51"/>
          <p:cNvSpPr/>
          <p:nvPr/>
        </p:nvSpPr>
        <p:spPr>
          <a:xfrm flipH="1" rot="5400000">
            <a:off x="3208575" y="7811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51"/>
          <p:cNvSpPr txBox="1"/>
          <p:nvPr/>
        </p:nvSpPr>
        <p:spPr>
          <a:xfrm>
            <a:off x="1807875" y="6756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51"/>
          <p:cNvSpPr/>
          <p:nvPr/>
        </p:nvSpPr>
        <p:spPr>
          <a:xfrm flipH="1" rot="5400000">
            <a:off x="6113843" y="14669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51"/>
          <p:cNvSpPr txBox="1"/>
          <p:nvPr/>
        </p:nvSpPr>
        <p:spPr>
          <a:xfrm>
            <a:off x="4713143" y="13614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5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Solve complex mathematical problems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2"/>
          <p:cNvSpPr/>
          <p:nvPr/>
        </p:nvSpPr>
        <p:spPr>
          <a:xfrm>
            <a:off x="3945350" y="1666950"/>
            <a:ext cx="1882800" cy="1619361"/>
          </a:xfrm>
          <a:custGeom>
            <a:rect b="b" l="l" r="r" t="t"/>
            <a:pathLst>
              <a:path extrusionOk="0" h="69493" w="75312">
                <a:moveTo>
                  <a:pt x="75312" y="0"/>
                </a:moveTo>
                <a:lnTo>
                  <a:pt x="0" y="0"/>
                </a:lnTo>
                <a:lnTo>
                  <a:pt x="0" y="69493"/>
                </a:lnTo>
                <a:lnTo>
                  <a:pt x="17459" y="69493"/>
                </a:lnTo>
                <a:lnTo>
                  <a:pt x="17459" y="43475"/>
                </a:lnTo>
                <a:lnTo>
                  <a:pt x="57511" y="43475"/>
                </a:lnTo>
                <a:lnTo>
                  <a:pt x="57511" y="54772"/>
                </a:lnTo>
                <a:lnTo>
                  <a:pt x="74970" y="54772"/>
                </a:lnTo>
                <a:close/>
              </a:path>
            </a:pathLst>
          </a:custGeom>
          <a:noFill/>
          <a:ln cap="flat" cmpd="sng" w="76200">
            <a:solidFill>
              <a:srgbClr val="2297E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3" name="Google Shape;923;p52"/>
          <p:cNvSpPr txBox="1"/>
          <p:nvPr>
            <p:ph type="title"/>
          </p:nvPr>
        </p:nvSpPr>
        <p:spPr>
          <a:xfrm>
            <a:off x="0" y="1989450"/>
            <a:ext cx="29610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(x*M) + (z*N) = x</a:t>
            </a:r>
            <a:r>
              <a:rPr baseline="-25000" lang="en-US" sz="2400"/>
              <a:t>1</a:t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x</a:t>
            </a:r>
            <a:r>
              <a:rPr baseline="-25000" lang="en-US" sz="2400"/>
              <a:t>1</a:t>
            </a:r>
            <a:r>
              <a:rPr lang="en-US" sz="2400"/>
              <a:t>*Q +1*B = y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4" name="Google Shape;924;p52"/>
          <p:cNvSpPr/>
          <p:nvPr/>
        </p:nvSpPr>
        <p:spPr>
          <a:xfrm>
            <a:off x="3145124" y="22219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52"/>
          <p:cNvSpPr/>
          <p:nvPr/>
        </p:nvSpPr>
        <p:spPr>
          <a:xfrm>
            <a:off x="6061276" y="2183850"/>
            <a:ext cx="699600" cy="6996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52"/>
          <p:cNvSpPr/>
          <p:nvPr/>
        </p:nvSpPr>
        <p:spPr>
          <a:xfrm>
            <a:off x="3145124" y="13456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7" name="Google Shape;927;p52"/>
          <p:cNvCxnSpPr>
            <a:stCxn id="928" idx="6"/>
            <a:endCxn id="929" idx="2"/>
          </p:cNvCxnSpPr>
          <p:nvPr/>
        </p:nvCxnSpPr>
        <p:spPr>
          <a:xfrm flipH="1" rot="10800000">
            <a:off x="3844724" y="3009750"/>
            <a:ext cx="758400" cy="43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8" name="Google Shape;928;p52"/>
          <p:cNvSpPr/>
          <p:nvPr/>
        </p:nvSpPr>
        <p:spPr>
          <a:xfrm>
            <a:off x="3145124" y="30982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52"/>
          <p:cNvSpPr/>
          <p:nvPr/>
        </p:nvSpPr>
        <p:spPr>
          <a:xfrm>
            <a:off x="4603195" y="2660100"/>
            <a:ext cx="699600" cy="699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0" name="Google Shape;930;p52"/>
          <p:cNvCxnSpPr>
            <a:stCxn id="924" idx="6"/>
            <a:endCxn id="929" idx="2"/>
          </p:cNvCxnSpPr>
          <p:nvPr/>
        </p:nvCxnSpPr>
        <p:spPr>
          <a:xfrm>
            <a:off x="3844724" y="2571750"/>
            <a:ext cx="758400" cy="43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1" name="Google Shape;931;p52"/>
          <p:cNvCxnSpPr>
            <a:stCxn id="926" idx="6"/>
            <a:endCxn id="925" idx="2"/>
          </p:cNvCxnSpPr>
          <p:nvPr/>
        </p:nvCxnSpPr>
        <p:spPr>
          <a:xfrm>
            <a:off x="3844724" y="1695450"/>
            <a:ext cx="2216700" cy="83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2" name="Google Shape;932;p52"/>
          <p:cNvCxnSpPr>
            <a:stCxn id="929" idx="6"/>
            <a:endCxn id="925" idx="2"/>
          </p:cNvCxnSpPr>
          <p:nvPr/>
        </p:nvCxnSpPr>
        <p:spPr>
          <a:xfrm flipH="1" rot="10800000">
            <a:off x="5302795" y="2533800"/>
            <a:ext cx="758400" cy="47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3" name="Google Shape;933;p52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400"/>
              <a:t> </a:t>
            </a:r>
            <a:endParaRPr i="1" sz="1400"/>
          </a:p>
        </p:txBody>
      </p:sp>
      <p:sp>
        <p:nvSpPr>
          <p:cNvPr id="934" name="Google Shape;934;p52"/>
          <p:cNvSpPr txBox="1"/>
          <p:nvPr/>
        </p:nvSpPr>
        <p:spPr>
          <a:xfrm>
            <a:off x="3874760" y="2310894"/>
            <a:ext cx="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52"/>
          <p:cNvSpPr txBox="1"/>
          <p:nvPr/>
        </p:nvSpPr>
        <p:spPr>
          <a:xfrm>
            <a:off x="4658322" y="1695444"/>
            <a:ext cx="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52"/>
          <p:cNvSpPr txBox="1"/>
          <p:nvPr/>
        </p:nvSpPr>
        <p:spPr>
          <a:xfrm>
            <a:off x="3874760" y="2845344"/>
            <a:ext cx="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52"/>
          <p:cNvSpPr txBox="1"/>
          <p:nvPr/>
        </p:nvSpPr>
        <p:spPr>
          <a:xfrm>
            <a:off x="5293110" y="2425719"/>
            <a:ext cx="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2"/>
          <p:cNvSpPr/>
          <p:nvPr/>
        </p:nvSpPr>
        <p:spPr>
          <a:xfrm flipH="1" rot="-5400000">
            <a:off x="4681925" y="3181759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2"/>
          <p:cNvSpPr txBox="1"/>
          <p:nvPr/>
        </p:nvSpPr>
        <p:spPr>
          <a:xfrm flipH="1">
            <a:off x="3281225" y="3859696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Hidden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52"/>
          <p:cNvSpPr/>
          <p:nvPr/>
        </p:nvSpPr>
        <p:spPr>
          <a:xfrm flipH="1" rot="5400000">
            <a:off x="3208575" y="7811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52"/>
          <p:cNvSpPr txBox="1"/>
          <p:nvPr/>
        </p:nvSpPr>
        <p:spPr>
          <a:xfrm>
            <a:off x="1807875" y="6756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52"/>
          <p:cNvSpPr/>
          <p:nvPr/>
        </p:nvSpPr>
        <p:spPr>
          <a:xfrm flipH="1" rot="5400000">
            <a:off x="6113843" y="14669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2"/>
          <p:cNvSpPr txBox="1"/>
          <p:nvPr/>
        </p:nvSpPr>
        <p:spPr>
          <a:xfrm>
            <a:off x="4713143" y="13614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52"/>
          <p:cNvSpPr txBox="1"/>
          <p:nvPr/>
        </p:nvSpPr>
        <p:spPr>
          <a:xfrm>
            <a:off x="6333150" y="3081075"/>
            <a:ext cx="237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</a:rPr>
              <a:t>Learned from the x, z, and y data!</a:t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945" name="Google Shape;945;p52"/>
          <p:cNvSpPr/>
          <p:nvPr/>
        </p:nvSpPr>
        <p:spPr>
          <a:xfrm flipH="1" rot="-3361885">
            <a:off x="5878235" y="2910348"/>
            <a:ext cx="427929" cy="5725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5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Solve complex mathematical problems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3"/>
          <p:cNvSpPr/>
          <p:nvPr/>
        </p:nvSpPr>
        <p:spPr>
          <a:xfrm>
            <a:off x="3145124" y="22219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53"/>
          <p:cNvSpPr/>
          <p:nvPr/>
        </p:nvSpPr>
        <p:spPr>
          <a:xfrm>
            <a:off x="6061276" y="2183850"/>
            <a:ext cx="699600" cy="6996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53"/>
          <p:cNvSpPr/>
          <p:nvPr/>
        </p:nvSpPr>
        <p:spPr>
          <a:xfrm>
            <a:off x="3145124" y="13456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4" name="Google Shape;954;p53"/>
          <p:cNvCxnSpPr>
            <a:stCxn id="955" idx="6"/>
            <a:endCxn id="956" idx="2"/>
          </p:cNvCxnSpPr>
          <p:nvPr/>
        </p:nvCxnSpPr>
        <p:spPr>
          <a:xfrm flipH="1" rot="10800000">
            <a:off x="3844724" y="3009750"/>
            <a:ext cx="758400" cy="43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5" name="Google Shape;955;p53"/>
          <p:cNvSpPr/>
          <p:nvPr/>
        </p:nvSpPr>
        <p:spPr>
          <a:xfrm>
            <a:off x="3145124" y="30982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53"/>
          <p:cNvSpPr/>
          <p:nvPr/>
        </p:nvSpPr>
        <p:spPr>
          <a:xfrm>
            <a:off x="4603195" y="2660100"/>
            <a:ext cx="699600" cy="699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7" name="Google Shape;957;p53"/>
          <p:cNvCxnSpPr>
            <a:stCxn id="951" idx="6"/>
            <a:endCxn id="956" idx="2"/>
          </p:cNvCxnSpPr>
          <p:nvPr/>
        </p:nvCxnSpPr>
        <p:spPr>
          <a:xfrm>
            <a:off x="3844724" y="2571750"/>
            <a:ext cx="758400" cy="43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8" name="Google Shape;958;p53"/>
          <p:cNvCxnSpPr>
            <a:stCxn id="953" idx="6"/>
            <a:endCxn id="952" idx="2"/>
          </p:cNvCxnSpPr>
          <p:nvPr/>
        </p:nvCxnSpPr>
        <p:spPr>
          <a:xfrm>
            <a:off x="3844724" y="1695450"/>
            <a:ext cx="2216700" cy="83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9" name="Google Shape;959;p53"/>
          <p:cNvCxnSpPr>
            <a:stCxn id="956" idx="6"/>
            <a:endCxn id="952" idx="2"/>
          </p:cNvCxnSpPr>
          <p:nvPr/>
        </p:nvCxnSpPr>
        <p:spPr>
          <a:xfrm flipH="1" rot="10800000">
            <a:off x="5302795" y="2533800"/>
            <a:ext cx="758400" cy="47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0" name="Google Shape;960;p53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400"/>
              <a:t> </a:t>
            </a:r>
            <a:endParaRPr i="1" sz="1400"/>
          </a:p>
        </p:txBody>
      </p:sp>
      <p:cxnSp>
        <p:nvCxnSpPr>
          <p:cNvPr id="961" name="Google Shape;961;p53"/>
          <p:cNvCxnSpPr>
            <a:stCxn id="953" idx="6"/>
            <a:endCxn id="956" idx="2"/>
          </p:cNvCxnSpPr>
          <p:nvPr/>
        </p:nvCxnSpPr>
        <p:spPr>
          <a:xfrm>
            <a:off x="3844724" y="1695450"/>
            <a:ext cx="758400" cy="131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2" name="Google Shape;962;p53"/>
          <p:cNvCxnSpPr>
            <a:stCxn id="951" idx="6"/>
            <a:endCxn id="952" idx="2"/>
          </p:cNvCxnSpPr>
          <p:nvPr/>
        </p:nvCxnSpPr>
        <p:spPr>
          <a:xfrm flipH="1" rot="10800000">
            <a:off x="3844724" y="2533650"/>
            <a:ext cx="2216700" cy="3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3" name="Google Shape;963;p53"/>
          <p:cNvSpPr/>
          <p:nvPr/>
        </p:nvSpPr>
        <p:spPr>
          <a:xfrm>
            <a:off x="3850900" y="2517850"/>
            <a:ext cx="2216807" cy="1314551"/>
          </a:xfrm>
          <a:custGeom>
            <a:rect b="b" l="l" r="r" t="t"/>
            <a:pathLst>
              <a:path extrusionOk="0" h="49601" w="88948">
                <a:moveTo>
                  <a:pt x="0" y="34806"/>
                </a:moveTo>
                <a:cubicBezTo>
                  <a:pt x="7670" y="37062"/>
                  <a:pt x="31196" y="54142"/>
                  <a:pt x="46021" y="48341"/>
                </a:cubicBezTo>
                <a:cubicBezTo>
                  <a:pt x="60846" y="42540"/>
                  <a:pt x="81794" y="8057"/>
                  <a:pt x="88948" y="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53"/>
          <p:cNvSpPr/>
          <p:nvPr/>
        </p:nvSpPr>
        <p:spPr>
          <a:xfrm rot="-5400000">
            <a:off x="4681925" y="7811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53"/>
          <p:cNvSpPr txBox="1"/>
          <p:nvPr/>
        </p:nvSpPr>
        <p:spPr>
          <a:xfrm flipH="1">
            <a:off x="3281225" y="6756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Hidden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53"/>
          <p:cNvSpPr/>
          <p:nvPr/>
        </p:nvSpPr>
        <p:spPr>
          <a:xfrm flipH="1" rot="5400000">
            <a:off x="3208575" y="7811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53"/>
          <p:cNvSpPr txBox="1"/>
          <p:nvPr/>
        </p:nvSpPr>
        <p:spPr>
          <a:xfrm>
            <a:off x="1807875" y="6756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53"/>
          <p:cNvSpPr/>
          <p:nvPr/>
        </p:nvSpPr>
        <p:spPr>
          <a:xfrm flipH="1" rot="5400000">
            <a:off x="6113843" y="14669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53"/>
          <p:cNvSpPr txBox="1"/>
          <p:nvPr/>
        </p:nvSpPr>
        <p:spPr>
          <a:xfrm>
            <a:off x="4713143" y="13614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5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Solve complex mathematical problems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4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400"/>
              <a:t> </a:t>
            </a:r>
            <a:endParaRPr i="1" sz="1400"/>
          </a:p>
        </p:txBody>
      </p:sp>
      <p:sp>
        <p:nvSpPr>
          <p:cNvPr id="976" name="Google Shape;976;p54"/>
          <p:cNvSpPr/>
          <p:nvPr/>
        </p:nvSpPr>
        <p:spPr>
          <a:xfrm>
            <a:off x="3145124" y="22219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54"/>
          <p:cNvSpPr/>
          <p:nvPr/>
        </p:nvSpPr>
        <p:spPr>
          <a:xfrm>
            <a:off x="6061276" y="2221050"/>
            <a:ext cx="699600" cy="6996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4"/>
          <p:cNvSpPr/>
          <p:nvPr/>
        </p:nvSpPr>
        <p:spPr>
          <a:xfrm>
            <a:off x="3145124" y="13456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9" name="Google Shape;979;p54"/>
          <p:cNvCxnSpPr>
            <a:stCxn id="980" idx="6"/>
            <a:endCxn id="981" idx="2"/>
          </p:cNvCxnSpPr>
          <p:nvPr/>
        </p:nvCxnSpPr>
        <p:spPr>
          <a:xfrm flipH="1" rot="10800000">
            <a:off x="3844724" y="3446250"/>
            <a:ext cx="758400" cy="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0" name="Google Shape;980;p54"/>
          <p:cNvSpPr/>
          <p:nvPr/>
        </p:nvSpPr>
        <p:spPr>
          <a:xfrm>
            <a:off x="3145124" y="30982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54"/>
          <p:cNvSpPr/>
          <p:nvPr/>
        </p:nvSpPr>
        <p:spPr>
          <a:xfrm>
            <a:off x="4603195" y="2221050"/>
            <a:ext cx="699600" cy="699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3" name="Google Shape;983;p54"/>
          <p:cNvCxnSpPr>
            <a:stCxn id="976" idx="6"/>
            <a:endCxn id="982" idx="2"/>
          </p:cNvCxnSpPr>
          <p:nvPr/>
        </p:nvCxnSpPr>
        <p:spPr>
          <a:xfrm flipH="1" rot="10800000">
            <a:off x="3844724" y="2570850"/>
            <a:ext cx="758400" cy="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4" name="Google Shape;984;p54"/>
          <p:cNvCxnSpPr>
            <a:stCxn id="978" idx="6"/>
            <a:endCxn id="985" idx="2"/>
          </p:cNvCxnSpPr>
          <p:nvPr/>
        </p:nvCxnSpPr>
        <p:spPr>
          <a:xfrm>
            <a:off x="3844724" y="1695450"/>
            <a:ext cx="758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6" name="Google Shape;986;p54"/>
          <p:cNvCxnSpPr>
            <a:stCxn id="982" idx="6"/>
            <a:endCxn id="977" idx="2"/>
          </p:cNvCxnSpPr>
          <p:nvPr/>
        </p:nvCxnSpPr>
        <p:spPr>
          <a:xfrm>
            <a:off x="5302795" y="2570850"/>
            <a:ext cx="758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1" name="Google Shape;981;p54"/>
          <p:cNvSpPr/>
          <p:nvPr/>
        </p:nvSpPr>
        <p:spPr>
          <a:xfrm>
            <a:off x="4603195" y="3096450"/>
            <a:ext cx="699600" cy="699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54"/>
          <p:cNvSpPr/>
          <p:nvPr/>
        </p:nvSpPr>
        <p:spPr>
          <a:xfrm>
            <a:off x="4603195" y="1345650"/>
            <a:ext cx="699600" cy="699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7" name="Google Shape;987;p54"/>
          <p:cNvCxnSpPr>
            <a:stCxn id="978" idx="6"/>
            <a:endCxn id="982" idx="2"/>
          </p:cNvCxnSpPr>
          <p:nvPr/>
        </p:nvCxnSpPr>
        <p:spPr>
          <a:xfrm>
            <a:off x="3844724" y="1695450"/>
            <a:ext cx="758400" cy="8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8" name="Google Shape;988;p54"/>
          <p:cNvCxnSpPr>
            <a:stCxn id="976" idx="6"/>
            <a:endCxn id="981" idx="2"/>
          </p:cNvCxnSpPr>
          <p:nvPr/>
        </p:nvCxnSpPr>
        <p:spPr>
          <a:xfrm>
            <a:off x="3844724" y="2571750"/>
            <a:ext cx="758400" cy="87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9" name="Google Shape;989;p54"/>
          <p:cNvCxnSpPr>
            <a:stCxn id="980" idx="6"/>
            <a:endCxn id="982" idx="2"/>
          </p:cNvCxnSpPr>
          <p:nvPr/>
        </p:nvCxnSpPr>
        <p:spPr>
          <a:xfrm flipH="1" rot="10800000">
            <a:off x="3844724" y="2570850"/>
            <a:ext cx="758400" cy="87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0" name="Google Shape;990;p54"/>
          <p:cNvCxnSpPr>
            <a:stCxn id="976" idx="6"/>
            <a:endCxn id="985" idx="2"/>
          </p:cNvCxnSpPr>
          <p:nvPr/>
        </p:nvCxnSpPr>
        <p:spPr>
          <a:xfrm flipH="1" rot="10800000">
            <a:off x="3844724" y="1695450"/>
            <a:ext cx="758400" cy="87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1" name="Google Shape;991;p54"/>
          <p:cNvCxnSpPr>
            <a:stCxn id="985" idx="6"/>
            <a:endCxn id="977" idx="2"/>
          </p:cNvCxnSpPr>
          <p:nvPr/>
        </p:nvCxnSpPr>
        <p:spPr>
          <a:xfrm>
            <a:off x="5302795" y="1695450"/>
            <a:ext cx="758400" cy="8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2" name="Google Shape;992;p54"/>
          <p:cNvCxnSpPr>
            <a:stCxn id="981" idx="6"/>
            <a:endCxn id="977" idx="2"/>
          </p:cNvCxnSpPr>
          <p:nvPr/>
        </p:nvCxnSpPr>
        <p:spPr>
          <a:xfrm flipH="1" rot="10800000">
            <a:off x="5302795" y="2570850"/>
            <a:ext cx="758400" cy="8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3" name="Google Shape;993;p54"/>
          <p:cNvSpPr/>
          <p:nvPr/>
        </p:nvSpPr>
        <p:spPr>
          <a:xfrm rot="-5400000">
            <a:off x="4681925" y="7811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54"/>
          <p:cNvSpPr txBox="1"/>
          <p:nvPr/>
        </p:nvSpPr>
        <p:spPr>
          <a:xfrm flipH="1">
            <a:off x="3281225" y="6756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Hidden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54"/>
          <p:cNvSpPr/>
          <p:nvPr/>
        </p:nvSpPr>
        <p:spPr>
          <a:xfrm flipH="1" rot="5400000">
            <a:off x="3208575" y="7811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54"/>
          <p:cNvSpPr txBox="1"/>
          <p:nvPr/>
        </p:nvSpPr>
        <p:spPr>
          <a:xfrm>
            <a:off x="1807875" y="6756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54"/>
          <p:cNvSpPr/>
          <p:nvPr/>
        </p:nvSpPr>
        <p:spPr>
          <a:xfrm flipH="1" rot="5400000">
            <a:off x="6113843" y="14669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54"/>
          <p:cNvSpPr txBox="1"/>
          <p:nvPr/>
        </p:nvSpPr>
        <p:spPr>
          <a:xfrm>
            <a:off x="4713143" y="13614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5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Solve complex mathematical problems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55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400"/>
              <a:t> </a:t>
            </a:r>
            <a:endParaRPr i="1" sz="1400"/>
          </a:p>
        </p:txBody>
      </p:sp>
      <p:sp>
        <p:nvSpPr>
          <p:cNvPr id="1005" name="Google Shape;1005;p55"/>
          <p:cNvSpPr/>
          <p:nvPr/>
        </p:nvSpPr>
        <p:spPr>
          <a:xfrm>
            <a:off x="3145124" y="22219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55"/>
          <p:cNvSpPr/>
          <p:nvPr/>
        </p:nvSpPr>
        <p:spPr>
          <a:xfrm>
            <a:off x="6061276" y="2221050"/>
            <a:ext cx="699600" cy="699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55"/>
          <p:cNvSpPr/>
          <p:nvPr/>
        </p:nvSpPr>
        <p:spPr>
          <a:xfrm>
            <a:off x="3145124" y="13456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8" name="Google Shape;1008;p55"/>
          <p:cNvCxnSpPr>
            <a:stCxn id="1009" idx="6"/>
            <a:endCxn id="1010" idx="2"/>
          </p:cNvCxnSpPr>
          <p:nvPr/>
        </p:nvCxnSpPr>
        <p:spPr>
          <a:xfrm flipH="1" rot="10800000">
            <a:off x="3844724" y="3446250"/>
            <a:ext cx="758400" cy="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9" name="Google Shape;1009;p55"/>
          <p:cNvSpPr/>
          <p:nvPr/>
        </p:nvSpPr>
        <p:spPr>
          <a:xfrm>
            <a:off x="3145124" y="30982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55"/>
          <p:cNvSpPr/>
          <p:nvPr/>
        </p:nvSpPr>
        <p:spPr>
          <a:xfrm>
            <a:off x="4603195" y="2221050"/>
            <a:ext cx="699600" cy="699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2" name="Google Shape;1012;p55"/>
          <p:cNvCxnSpPr>
            <a:stCxn id="1005" idx="6"/>
            <a:endCxn id="1011" idx="2"/>
          </p:cNvCxnSpPr>
          <p:nvPr/>
        </p:nvCxnSpPr>
        <p:spPr>
          <a:xfrm flipH="1" rot="10800000">
            <a:off x="3844724" y="2570850"/>
            <a:ext cx="758400" cy="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3" name="Google Shape;1013;p55"/>
          <p:cNvCxnSpPr>
            <a:stCxn id="1007" idx="6"/>
            <a:endCxn id="1014" idx="2"/>
          </p:cNvCxnSpPr>
          <p:nvPr/>
        </p:nvCxnSpPr>
        <p:spPr>
          <a:xfrm>
            <a:off x="3844724" y="1695450"/>
            <a:ext cx="758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5" name="Google Shape;1015;p55"/>
          <p:cNvCxnSpPr>
            <a:stCxn id="1011" idx="6"/>
            <a:endCxn id="1006" idx="2"/>
          </p:cNvCxnSpPr>
          <p:nvPr/>
        </p:nvCxnSpPr>
        <p:spPr>
          <a:xfrm>
            <a:off x="5302795" y="2570850"/>
            <a:ext cx="758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0" name="Google Shape;1010;p55"/>
          <p:cNvSpPr/>
          <p:nvPr/>
        </p:nvSpPr>
        <p:spPr>
          <a:xfrm>
            <a:off x="4603195" y="3096450"/>
            <a:ext cx="699600" cy="699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55"/>
          <p:cNvSpPr/>
          <p:nvPr/>
        </p:nvSpPr>
        <p:spPr>
          <a:xfrm>
            <a:off x="4603195" y="1345650"/>
            <a:ext cx="699600" cy="6996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6" name="Google Shape;1016;p55"/>
          <p:cNvCxnSpPr>
            <a:stCxn id="1007" idx="6"/>
            <a:endCxn id="1011" idx="2"/>
          </p:cNvCxnSpPr>
          <p:nvPr/>
        </p:nvCxnSpPr>
        <p:spPr>
          <a:xfrm>
            <a:off x="3844724" y="1695450"/>
            <a:ext cx="758400" cy="8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7" name="Google Shape;1017;p55"/>
          <p:cNvCxnSpPr>
            <a:stCxn id="1005" idx="6"/>
            <a:endCxn id="1010" idx="2"/>
          </p:cNvCxnSpPr>
          <p:nvPr/>
        </p:nvCxnSpPr>
        <p:spPr>
          <a:xfrm>
            <a:off x="3844724" y="2571750"/>
            <a:ext cx="758400" cy="87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8" name="Google Shape;1018;p55"/>
          <p:cNvCxnSpPr>
            <a:stCxn id="1009" idx="6"/>
            <a:endCxn id="1011" idx="2"/>
          </p:cNvCxnSpPr>
          <p:nvPr/>
        </p:nvCxnSpPr>
        <p:spPr>
          <a:xfrm flipH="1" rot="10800000">
            <a:off x="3844724" y="2570850"/>
            <a:ext cx="758400" cy="87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9" name="Google Shape;1019;p55"/>
          <p:cNvCxnSpPr>
            <a:stCxn id="1005" idx="6"/>
            <a:endCxn id="1014" idx="2"/>
          </p:cNvCxnSpPr>
          <p:nvPr/>
        </p:nvCxnSpPr>
        <p:spPr>
          <a:xfrm flipH="1" rot="10800000">
            <a:off x="3844724" y="1695450"/>
            <a:ext cx="758400" cy="87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0" name="Google Shape;1020;p55"/>
          <p:cNvCxnSpPr>
            <a:stCxn id="1014" idx="6"/>
            <a:endCxn id="1006" idx="2"/>
          </p:cNvCxnSpPr>
          <p:nvPr/>
        </p:nvCxnSpPr>
        <p:spPr>
          <a:xfrm>
            <a:off x="5302795" y="1695450"/>
            <a:ext cx="758400" cy="8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1" name="Google Shape;1021;p55"/>
          <p:cNvCxnSpPr>
            <a:stCxn id="1010" idx="6"/>
            <a:endCxn id="1006" idx="2"/>
          </p:cNvCxnSpPr>
          <p:nvPr/>
        </p:nvCxnSpPr>
        <p:spPr>
          <a:xfrm flipH="1" rot="10800000">
            <a:off x="5302795" y="2570850"/>
            <a:ext cx="758400" cy="8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2" name="Google Shape;1022;p55"/>
          <p:cNvSpPr/>
          <p:nvPr/>
        </p:nvSpPr>
        <p:spPr>
          <a:xfrm>
            <a:off x="7519890" y="2221050"/>
            <a:ext cx="699600" cy="6996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3" name="Google Shape;1023;p55"/>
          <p:cNvCxnSpPr>
            <a:endCxn id="1024" idx="2"/>
          </p:cNvCxnSpPr>
          <p:nvPr/>
        </p:nvCxnSpPr>
        <p:spPr>
          <a:xfrm flipH="1" rot="10800000">
            <a:off x="5303409" y="3446250"/>
            <a:ext cx="758400" cy="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5" name="Google Shape;1025;p55"/>
          <p:cNvSpPr/>
          <p:nvPr/>
        </p:nvSpPr>
        <p:spPr>
          <a:xfrm>
            <a:off x="6061809" y="2221050"/>
            <a:ext cx="699600" cy="699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6" name="Google Shape;1026;p55"/>
          <p:cNvCxnSpPr>
            <a:endCxn id="1025" idx="2"/>
          </p:cNvCxnSpPr>
          <p:nvPr/>
        </p:nvCxnSpPr>
        <p:spPr>
          <a:xfrm flipH="1" rot="10800000">
            <a:off x="5303409" y="2570850"/>
            <a:ext cx="758400" cy="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7" name="Google Shape;1027;p55"/>
          <p:cNvCxnSpPr>
            <a:endCxn id="1028" idx="2"/>
          </p:cNvCxnSpPr>
          <p:nvPr/>
        </p:nvCxnSpPr>
        <p:spPr>
          <a:xfrm>
            <a:off x="5303409" y="1695450"/>
            <a:ext cx="758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9" name="Google Shape;1029;p55"/>
          <p:cNvCxnSpPr>
            <a:stCxn id="1025" idx="6"/>
            <a:endCxn id="1022" idx="2"/>
          </p:cNvCxnSpPr>
          <p:nvPr/>
        </p:nvCxnSpPr>
        <p:spPr>
          <a:xfrm>
            <a:off x="6761409" y="2570850"/>
            <a:ext cx="758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4" name="Google Shape;1024;p55"/>
          <p:cNvSpPr/>
          <p:nvPr/>
        </p:nvSpPr>
        <p:spPr>
          <a:xfrm>
            <a:off x="6061809" y="3096450"/>
            <a:ext cx="699600" cy="699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55"/>
          <p:cNvSpPr/>
          <p:nvPr/>
        </p:nvSpPr>
        <p:spPr>
          <a:xfrm>
            <a:off x="6061809" y="1345650"/>
            <a:ext cx="699600" cy="6996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0" name="Google Shape;1030;p55"/>
          <p:cNvCxnSpPr>
            <a:endCxn id="1025" idx="2"/>
          </p:cNvCxnSpPr>
          <p:nvPr/>
        </p:nvCxnSpPr>
        <p:spPr>
          <a:xfrm>
            <a:off x="5303409" y="1695450"/>
            <a:ext cx="758400" cy="8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1" name="Google Shape;1031;p55"/>
          <p:cNvCxnSpPr>
            <a:endCxn id="1024" idx="2"/>
          </p:cNvCxnSpPr>
          <p:nvPr/>
        </p:nvCxnSpPr>
        <p:spPr>
          <a:xfrm>
            <a:off x="5303409" y="2571750"/>
            <a:ext cx="758400" cy="87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2" name="Google Shape;1032;p55"/>
          <p:cNvCxnSpPr>
            <a:endCxn id="1025" idx="2"/>
          </p:cNvCxnSpPr>
          <p:nvPr/>
        </p:nvCxnSpPr>
        <p:spPr>
          <a:xfrm flipH="1" rot="10800000">
            <a:off x="5303409" y="2570850"/>
            <a:ext cx="758400" cy="87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3" name="Google Shape;1033;p55"/>
          <p:cNvCxnSpPr>
            <a:endCxn id="1028" idx="2"/>
          </p:cNvCxnSpPr>
          <p:nvPr/>
        </p:nvCxnSpPr>
        <p:spPr>
          <a:xfrm flipH="1" rot="10800000">
            <a:off x="5303409" y="1695450"/>
            <a:ext cx="758400" cy="87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4" name="Google Shape;1034;p55"/>
          <p:cNvCxnSpPr>
            <a:stCxn id="1028" idx="6"/>
            <a:endCxn id="1022" idx="2"/>
          </p:cNvCxnSpPr>
          <p:nvPr/>
        </p:nvCxnSpPr>
        <p:spPr>
          <a:xfrm>
            <a:off x="6761409" y="1695450"/>
            <a:ext cx="758400" cy="8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5" name="Google Shape;1035;p55"/>
          <p:cNvCxnSpPr>
            <a:stCxn id="1024" idx="6"/>
            <a:endCxn id="1022" idx="2"/>
          </p:cNvCxnSpPr>
          <p:nvPr/>
        </p:nvCxnSpPr>
        <p:spPr>
          <a:xfrm flipH="1" rot="10800000">
            <a:off x="6761409" y="2570850"/>
            <a:ext cx="758400" cy="8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6" name="Google Shape;1036;p55"/>
          <p:cNvSpPr/>
          <p:nvPr/>
        </p:nvSpPr>
        <p:spPr>
          <a:xfrm>
            <a:off x="1687656" y="22219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55"/>
          <p:cNvSpPr/>
          <p:nvPr/>
        </p:nvSpPr>
        <p:spPr>
          <a:xfrm>
            <a:off x="1687656" y="13456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8" name="Google Shape;1038;p55"/>
          <p:cNvCxnSpPr>
            <a:stCxn id="1039" idx="6"/>
            <a:endCxn id="1040" idx="2"/>
          </p:cNvCxnSpPr>
          <p:nvPr/>
        </p:nvCxnSpPr>
        <p:spPr>
          <a:xfrm flipH="1" rot="10800000">
            <a:off x="2387256" y="3446250"/>
            <a:ext cx="758400" cy="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9" name="Google Shape;1039;p55"/>
          <p:cNvSpPr/>
          <p:nvPr/>
        </p:nvSpPr>
        <p:spPr>
          <a:xfrm>
            <a:off x="1687656" y="3098250"/>
            <a:ext cx="699600" cy="699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55"/>
          <p:cNvSpPr/>
          <p:nvPr/>
        </p:nvSpPr>
        <p:spPr>
          <a:xfrm>
            <a:off x="3145727" y="2221050"/>
            <a:ext cx="699600" cy="699600"/>
          </a:xfrm>
          <a:prstGeom prst="ellipse">
            <a:avLst/>
          </a:prstGeom>
          <a:solidFill>
            <a:srgbClr val="D0E0E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2" name="Google Shape;1042;p55"/>
          <p:cNvCxnSpPr>
            <a:stCxn id="1036" idx="6"/>
            <a:endCxn id="1041" idx="2"/>
          </p:cNvCxnSpPr>
          <p:nvPr/>
        </p:nvCxnSpPr>
        <p:spPr>
          <a:xfrm flipH="1" rot="10800000">
            <a:off x="2387256" y="2570850"/>
            <a:ext cx="758400" cy="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3" name="Google Shape;1043;p55"/>
          <p:cNvCxnSpPr>
            <a:stCxn id="1037" idx="6"/>
            <a:endCxn id="1044" idx="2"/>
          </p:cNvCxnSpPr>
          <p:nvPr/>
        </p:nvCxnSpPr>
        <p:spPr>
          <a:xfrm>
            <a:off x="2387256" y="1695450"/>
            <a:ext cx="758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0" name="Google Shape;1040;p55"/>
          <p:cNvSpPr/>
          <p:nvPr/>
        </p:nvSpPr>
        <p:spPr>
          <a:xfrm>
            <a:off x="3145727" y="3096450"/>
            <a:ext cx="699600" cy="699600"/>
          </a:xfrm>
          <a:prstGeom prst="ellipse">
            <a:avLst/>
          </a:prstGeom>
          <a:solidFill>
            <a:srgbClr val="D0E0E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55"/>
          <p:cNvSpPr/>
          <p:nvPr/>
        </p:nvSpPr>
        <p:spPr>
          <a:xfrm>
            <a:off x="3145727" y="1345650"/>
            <a:ext cx="699600" cy="699600"/>
          </a:xfrm>
          <a:prstGeom prst="ellipse">
            <a:avLst/>
          </a:prstGeom>
          <a:solidFill>
            <a:srgbClr val="D0E0E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5" name="Google Shape;1045;p55"/>
          <p:cNvCxnSpPr>
            <a:stCxn id="1037" idx="6"/>
            <a:endCxn id="1041" idx="2"/>
          </p:cNvCxnSpPr>
          <p:nvPr/>
        </p:nvCxnSpPr>
        <p:spPr>
          <a:xfrm>
            <a:off x="2387256" y="1695450"/>
            <a:ext cx="758400" cy="8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6" name="Google Shape;1046;p55"/>
          <p:cNvCxnSpPr>
            <a:stCxn id="1036" idx="6"/>
            <a:endCxn id="1040" idx="2"/>
          </p:cNvCxnSpPr>
          <p:nvPr/>
        </p:nvCxnSpPr>
        <p:spPr>
          <a:xfrm>
            <a:off x="2387256" y="2571750"/>
            <a:ext cx="758400" cy="87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7" name="Google Shape;1047;p55"/>
          <p:cNvCxnSpPr>
            <a:stCxn id="1039" idx="6"/>
            <a:endCxn id="1041" idx="2"/>
          </p:cNvCxnSpPr>
          <p:nvPr/>
        </p:nvCxnSpPr>
        <p:spPr>
          <a:xfrm flipH="1" rot="10800000">
            <a:off x="2387256" y="2570850"/>
            <a:ext cx="758400" cy="87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8" name="Google Shape;1048;p55"/>
          <p:cNvCxnSpPr>
            <a:stCxn id="1036" idx="6"/>
            <a:endCxn id="1044" idx="2"/>
          </p:cNvCxnSpPr>
          <p:nvPr/>
        </p:nvCxnSpPr>
        <p:spPr>
          <a:xfrm flipH="1" rot="10800000">
            <a:off x="2387256" y="1695450"/>
            <a:ext cx="758400" cy="87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9" name="Google Shape;1049;p55"/>
          <p:cNvSpPr/>
          <p:nvPr/>
        </p:nvSpPr>
        <p:spPr>
          <a:xfrm rot="-5400000">
            <a:off x="4681925" y="-653850"/>
            <a:ext cx="572700" cy="3842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55"/>
          <p:cNvSpPr txBox="1"/>
          <p:nvPr/>
        </p:nvSpPr>
        <p:spPr>
          <a:xfrm flipH="1">
            <a:off x="3281225" y="6756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Hidden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55"/>
          <p:cNvSpPr/>
          <p:nvPr/>
        </p:nvSpPr>
        <p:spPr>
          <a:xfrm flipH="1" rot="5400000">
            <a:off x="1744483" y="7811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55"/>
          <p:cNvSpPr txBox="1"/>
          <p:nvPr/>
        </p:nvSpPr>
        <p:spPr>
          <a:xfrm>
            <a:off x="343783" y="6756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55"/>
          <p:cNvSpPr/>
          <p:nvPr/>
        </p:nvSpPr>
        <p:spPr>
          <a:xfrm flipH="1" rot="5400000">
            <a:off x="7586494" y="1466988"/>
            <a:ext cx="572700" cy="97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55"/>
          <p:cNvSpPr txBox="1"/>
          <p:nvPr/>
        </p:nvSpPr>
        <p:spPr>
          <a:xfrm>
            <a:off x="6185794" y="1361450"/>
            <a:ext cx="3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5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Solve complex mathematical problems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56"/>
          <p:cNvSpPr txBox="1"/>
          <p:nvPr>
            <p:ph type="title"/>
          </p:nvPr>
        </p:nvSpPr>
        <p:spPr>
          <a:xfrm>
            <a:off x="447450" y="526350"/>
            <a:ext cx="8249100" cy="40908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Example with Sound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Spectrograms</a:t>
            </a:r>
            <a:endParaRPr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57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-US">
                <a:solidFill>
                  <a:srgbClr val="BB0000"/>
                </a:solidFill>
              </a:rPr>
              <a:t> </a:t>
            </a:r>
            <a:endParaRPr>
              <a:solidFill>
                <a:srgbClr val="BB0000"/>
              </a:solidFill>
            </a:endParaRPr>
          </a:p>
        </p:txBody>
      </p:sp>
      <p:sp>
        <p:nvSpPr>
          <p:cNvPr id="1067" name="Google Shape;1067;p57"/>
          <p:cNvSpPr txBox="1"/>
          <p:nvPr/>
        </p:nvSpPr>
        <p:spPr>
          <a:xfrm>
            <a:off x="0" y="572700"/>
            <a:ext cx="9144000" cy="3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Spectrogram</a:t>
            </a:r>
            <a:r>
              <a:rPr lang="en-US" sz="2400">
                <a:solidFill>
                  <a:schemeClr val="dk1"/>
                </a:solidFill>
              </a:rPr>
              <a:t>: a graphic representation of sound through time, where the x-axis represents time, the y-axis represents frequency, and the z-axis (or color) represents pressure amplitude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Not to be confused with </a:t>
            </a:r>
            <a:r>
              <a:rPr b="1" lang="en-US" sz="2400">
                <a:solidFill>
                  <a:schemeClr val="dk1"/>
                </a:solidFill>
              </a:rPr>
              <a:t>waveforms</a:t>
            </a:r>
            <a:r>
              <a:rPr lang="en-US" sz="2400">
                <a:solidFill>
                  <a:schemeClr val="dk1"/>
                </a:solidFill>
              </a:rPr>
              <a:t>: a graphic representation of the properties of sound as a wave, including wavelength and pressure amplitude through time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Spectrograms are calculated from waveforms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5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spectrogram and waveform</a:t>
            </a:r>
            <a:endParaRPr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58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-US">
                <a:solidFill>
                  <a:srgbClr val="BB0000"/>
                </a:solidFill>
              </a:rPr>
              <a:t> </a:t>
            </a:r>
            <a:endParaRPr>
              <a:solidFill>
                <a:srgbClr val="BB0000"/>
              </a:solidFill>
            </a:endParaRPr>
          </a:p>
        </p:txBody>
      </p:sp>
      <p:pic>
        <p:nvPicPr>
          <p:cNvPr id="1074" name="Google Shape;107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5139" y="661262"/>
            <a:ext cx="6807173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58"/>
          <p:cNvSpPr txBox="1"/>
          <p:nvPr/>
        </p:nvSpPr>
        <p:spPr>
          <a:xfrm>
            <a:off x="0" y="572700"/>
            <a:ext cx="2135100" cy="3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Waveform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Spectrogram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5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spectrogram and waveform</a:t>
            </a:r>
            <a:endParaRPr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59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-US">
                <a:solidFill>
                  <a:srgbClr val="BB0000"/>
                </a:solidFill>
              </a:rPr>
              <a:t> </a:t>
            </a:r>
            <a:endParaRPr>
              <a:solidFill>
                <a:srgbClr val="BB0000"/>
              </a:solidFill>
            </a:endParaRPr>
          </a:p>
        </p:txBody>
      </p:sp>
      <p:pic>
        <p:nvPicPr>
          <p:cNvPr id="1082" name="Google Shape;108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05" y="1044971"/>
            <a:ext cx="1781050" cy="1145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5139" y="661262"/>
            <a:ext cx="6807173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59"/>
          <p:cNvSpPr txBox="1"/>
          <p:nvPr>
            <p:ph idx="1" type="body"/>
          </p:nvPr>
        </p:nvSpPr>
        <p:spPr>
          <a:xfrm>
            <a:off x="1" y="3120000"/>
            <a:ext cx="213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chemeClr val="dk1"/>
                </a:solidFill>
              </a:rPr>
              <a:t>Canyon Wren</a:t>
            </a:r>
            <a:br>
              <a:rPr lang="en-US" sz="1400">
                <a:solidFill>
                  <a:schemeClr val="dk1"/>
                </a:solidFill>
              </a:rPr>
            </a:br>
            <a:r>
              <a:rPr i="1" lang="en-US" sz="1400">
                <a:solidFill>
                  <a:schemeClr val="dk1"/>
                </a:solidFill>
              </a:rPr>
              <a:t>Catherpes mexicanus</a:t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085" name="Google Shape;1085;p59" title="CanyonWren.mp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975" y="2357988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60"/>
          <p:cNvSpPr txBox="1"/>
          <p:nvPr/>
        </p:nvSpPr>
        <p:spPr>
          <a:xfrm>
            <a:off x="1364550" y="3638963"/>
            <a:ext cx="6414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Dataset:</a:t>
            </a:r>
            <a:r>
              <a:rPr b="0" i="0" lang="en-US" sz="2500" u="none" cap="none" strike="noStrike">
                <a:solidFill>
                  <a:srgbClr val="BB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= 513,617 syllables 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Estimated total syllables: ~375 million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6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Labeling syllables to analyze songs </a:t>
            </a:r>
            <a:endParaRPr baseline="-25000"/>
          </a:p>
        </p:txBody>
      </p:sp>
      <p:sp>
        <p:nvSpPr>
          <p:cNvPr id="1092" name="Google Shape;1092;p60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 </a:t>
            </a:r>
            <a:endParaRPr i="1" sz="1400"/>
          </a:p>
        </p:txBody>
      </p:sp>
      <p:grpSp>
        <p:nvGrpSpPr>
          <p:cNvPr id="1093" name="Google Shape;1093;p60"/>
          <p:cNvGrpSpPr/>
          <p:nvPr/>
        </p:nvGrpSpPr>
        <p:grpSpPr>
          <a:xfrm>
            <a:off x="1589700" y="1296162"/>
            <a:ext cx="3315601" cy="1981261"/>
            <a:chOff x="5584175" y="1926259"/>
            <a:chExt cx="3315601" cy="1981261"/>
          </a:xfrm>
        </p:grpSpPr>
        <p:pic>
          <p:nvPicPr>
            <p:cNvPr id="1094" name="Google Shape;1094;p60"/>
            <p:cNvPicPr preferRelativeResize="0"/>
            <p:nvPr/>
          </p:nvPicPr>
          <p:blipFill rotWithShape="1">
            <a:blip r:embed="rId3">
              <a:alphaModFix/>
            </a:blip>
            <a:srcRect b="30135" l="34329" r="44454" t="45477"/>
            <a:stretch/>
          </p:blipFill>
          <p:spPr>
            <a:xfrm>
              <a:off x="5584175" y="1926259"/>
              <a:ext cx="3315601" cy="1981261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95" name="Google Shape;1095;p60"/>
            <p:cNvSpPr/>
            <p:nvPr/>
          </p:nvSpPr>
          <p:spPr>
            <a:xfrm>
              <a:off x="5697425" y="3176425"/>
              <a:ext cx="719700" cy="3057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60"/>
            <p:cNvSpPr/>
            <p:nvPr/>
          </p:nvSpPr>
          <p:spPr>
            <a:xfrm>
              <a:off x="6454610" y="2940459"/>
              <a:ext cx="666300" cy="6726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60"/>
            <p:cNvSpPr/>
            <p:nvPr/>
          </p:nvSpPr>
          <p:spPr>
            <a:xfrm>
              <a:off x="7142233" y="2105848"/>
              <a:ext cx="482400" cy="8322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60"/>
            <p:cNvSpPr/>
            <p:nvPr/>
          </p:nvSpPr>
          <p:spPr>
            <a:xfrm>
              <a:off x="7658273" y="2268202"/>
              <a:ext cx="466800" cy="5421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60"/>
            <p:cNvSpPr/>
            <p:nvPr/>
          </p:nvSpPr>
          <p:spPr>
            <a:xfrm>
              <a:off x="8125078" y="3252558"/>
              <a:ext cx="666300" cy="4008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0" name="Google Shape;1100;p60"/>
          <p:cNvSpPr txBox="1"/>
          <p:nvPr/>
        </p:nvSpPr>
        <p:spPr>
          <a:xfrm>
            <a:off x="1588790" y="3277429"/>
            <a:ext cx="33174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60"/>
          <p:cNvSpPr txBox="1"/>
          <p:nvPr/>
        </p:nvSpPr>
        <p:spPr>
          <a:xfrm>
            <a:off x="0" y="1296193"/>
            <a:ext cx="1591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Frequency</a:t>
            </a:r>
            <a:endParaRPr b="0" i="0" sz="2100" u="none" cap="none" strike="noStrike">
              <a:solidFill>
                <a:srgbClr val="BB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60"/>
          <p:cNvSpPr txBox="1"/>
          <p:nvPr/>
        </p:nvSpPr>
        <p:spPr>
          <a:xfrm>
            <a:off x="1589700" y="646071"/>
            <a:ext cx="3315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Spectrogram with Syllables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3" name="Google Shape;1103;p60"/>
          <p:cNvPicPr preferRelativeResize="0"/>
          <p:nvPr/>
        </p:nvPicPr>
        <p:blipFill rotWithShape="1">
          <a:blip r:embed="rId3">
            <a:alphaModFix/>
          </a:blip>
          <a:srcRect b="33779" l="39899" r="55836" t="57945"/>
          <a:stretch/>
        </p:blipFill>
        <p:spPr>
          <a:xfrm>
            <a:off x="5268790" y="1491966"/>
            <a:ext cx="1645545" cy="13205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60"/>
          <p:cNvSpPr txBox="1"/>
          <p:nvPr/>
        </p:nvSpPr>
        <p:spPr>
          <a:xfrm>
            <a:off x="7282545" y="1721900"/>
            <a:ext cx="16602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 Statistics</a:t>
            </a:r>
            <a:endParaRPr b="0" i="0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Bandwidth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Duration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Frequency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Slope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Inflections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105" name="Google Shape;1105;p60"/>
          <p:cNvGrpSpPr/>
          <p:nvPr/>
        </p:nvGrpSpPr>
        <p:grpSpPr>
          <a:xfrm>
            <a:off x="5268827" y="1511710"/>
            <a:ext cx="1965458" cy="1323103"/>
            <a:chOff x="410426" y="2212160"/>
            <a:chExt cx="3209959" cy="1842248"/>
          </a:xfrm>
        </p:grpSpPr>
        <p:sp>
          <p:nvSpPr>
            <p:cNvPr id="1106" name="Google Shape;1106;p60"/>
            <p:cNvSpPr/>
            <p:nvPr/>
          </p:nvSpPr>
          <p:spPr>
            <a:xfrm>
              <a:off x="410426" y="2215708"/>
              <a:ext cx="2687700" cy="18387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0"/>
            <p:cNvSpPr/>
            <p:nvPr/>
          </p:nvSpPr>
          <p:spPr>
            <a:xfrm>
              <a:off x="3103185" y="2212160"/>
              <a:ext cx="517200" cy="1838700"/>
            </a:xfrm>
            <a:prstGeom prst="righ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rgbClr val="B5C0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8" name="Google Shape;1108;p60"/>
          <p:cNvSpPr/>
          <p:nvPr/>
        </p:nvSpPr>
        <p:spPr>
          <a:xfrm rot="5400000">
            <a:off x="5916743" y="2164160"/>
            <a:ext cx="340500" cy="1636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B5C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9" name="Google Shape;1109;p60"/>
          <p:cNvCxnSpPr/>
          <p:nvPr/>
        </p:nvCxnSpPr>
        <p:spPr>
          <a:xfrm>
            <a:off x="5262627" y="2427571"/>
            <a:ext cx="1654500" cy="0"/>
          </a:xfrm>
          <a:prstGeom prst="straightConnector1">
            <a:avLst/>
          </a:prstGeom>
          <a:noFill/>
          <a:ln cap="flat" cmpd="sng" w="76200">
            <a:solidFill>
              <a:srgbClr val="B5C0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0" name="Google Shape;1110;p60"/>
          <p:cNvCxnSpPr/>
          <p:nvPr/>
        </p:nvCxnSpPr>
        <p:spPr>
          <a:xfrm flipH="1" rot="10800000">
            <a:off x="5250800" y="2020830"/>
            <a:ext cx="1660200" cy="647700"/>
          </a:xfrm>
          <a:prstGeom prst="straightConnector1">
            <a:avLst/>
          </a:prstGeom>
          <a:noFill/>
          <a:ln cap="flat" cmpd="sng" w="76200">
            <a:solidFill>
              <a:srgbClr val="B5C0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1" name="Google Shape;1111;p60"/>
          <p:cNvSpPr/>
          <p:nvPr/>
        </p:nvSpPr>
        <p:spPr>
          <a:xfrm>
            <a:off x="5499351" y="2193299"/>
            <a:ext cx="129600" cy="139200"/>
          </a:xfrm>
          <a:prstGeom prst="ellipse">
            <a:avLst/>
          </a:prstGeom>
          <a:solidFill>
            <a:srgbClr val="B5C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60"/>
          <p:cNvSpPr/>
          <p:nvPr/>
        </p:nvSpPr>
        <p:spPr>
          <a:xfrm>
            <a:off x="5698778" y="2592441"/>
            <a:ext cx="129600" cy="139200"/>
          </a:xfrm>
          <a:prstGeom prst="ellipse">
            <a:avLst/>
          </a:prstGeom>
          <a:solidFill>
            <a:srgbClr val="B5C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60"/>
          <p:cNvSpPr/>
          <p:nvPr/>
        </p:nvSpPr>
        <p:spPr>
          <a:xfrm>
            <a:off x="5765277" y="1703894"/>
            <a:ext cx="129600" cy="139200"/>
          </a:xfrm>
          <a:prstGeom prst="ellipse">
            <a:avLst/>
          </a:prstGeom>
          <a:solidFill>
            <a:srgbClr val="B5C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60"/>
          <p:cNvSpPr/>
          <p:nvPr/>
        </p:nvSpPr>
        <p:spPr>
          <a:xfrm>
            <a:off x="6050381" y="2592441"/>
            <a:ext cx="129600" cy="139200"/>
          </a:xfrm>
          <a:prstGeom prst="ellipse">
            <a:avLst/>
          </a:prstGeom>
          <a:solidFill>
            <a:srgbClr val="B5C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60"/>
          <p:cNvSpPr/>
          <p:nvPr/>
        </p:nvSpPr>
        <p:spPr>
          <a:xfrm>
            <a:off x="6143466" y="1563252"/>
            <a:ext cx="129600" cy="139200"/>
          </a:xfrm>
          <a:prstGeom prst="ellipse">
            <a:avLst/>
          </a:prstGeom>
          <a:solidFill>
            <a:srgbClr val="B5C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60"/>
          <p:cNvSpPr/>
          <p:nvPr/>
        </p:nvSpPr>
        <p:spPr>
          <a:xfrm>
            <a:off x="6416758" y="2558835"/>
            <a:ext cx="129600" cy="139200"/>
          </a:xfrm>
          <a:prstGeom prst="ellipse">
            <a:avLst/>
          </a:prstGeom>
          <a:solidFill>
            <a:srgbClr val="B5C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60"/>
          <p:cNvSpPr/>
          <p:nvPr/>
        </p:nvSpPr>
        <p:spPr>
          <a:xfrm>
            <a:off x="6692996" y="2193291"/>
            <a:ext cx="129600" cy="139200"/>
          </a:xfrm>
          <a:prstGeom prst="ellipse">
            <a:avLst/>
          </a:prstGeom>
          <a:solidFill>
            <a:srgbClr val="B5C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2" name="Google Shape;1122;p61"/>
          <p:cNvGrpSpPr/>
          <p:nvPr/>
        </p:nvGrpSpPr>
        <p:grpSpPr>
          <a:xfrm>
            <a:off x="455730" y="1179882"/>
            <a:ext cx="1326943" cy="1183545"/>
            <a:chOff x="1146050" y="3237675"/>
            <a:chExt cx="1326943" cy="1183545"/>
          </a:xfrm>
        </p:grpSpPr>
        <p:sp>
          <p:nvSpPr>
            <p:cNvPr id="1123" name="Google Shape;1123;p61"/>
            <p:cNvSpPr/>
            <p:nvPr/>
          </p:nvSpPr>
          <p:spPr>
            <a:xfrm>
              <a:off x="1312239" y="3430833"/>
              <a:ext cx="763316" cy="852580"/>
            </a:xfrm>
            <a:custGeom>
              <a:rect b="b" l="l" r="r" t="t"/>
              <a:pathLst>
                <a:path extrusionOk="0" h="21624" w="19360">
                  <a:moveTo>
                    <a:pt x="11644" y="143"/>
                  </a:moveTo>
                  <a:lnTo>
                    <a:pt x="10287" y="0"/>
                  </a:lnTo>
                  <a:lnTo>
                    <a:pt x="4739" y="1000"/>
                  </a:lnTo>
                  <a:lnTo>
                    <a:pt x="0" y="4786"/>
                  </a:lnTo>
                  <a:lnTo>
                    <a:pt x="2048" y="4239"/>
                  </a:lnTo>
                  <a:lnTo>
                    <a:pt x="4739" y="6358"/>
                  </a:lnTo>
                  <a:lnTo>
                    <a:pt x="6477" y="9076"/>
                  </a:lnTo>
                  <a:lnTo>
                    <a:pt x="5882" y="13886"/>
                  </a:lnTo>
                  <a:lnTo>
                    <a:pt x="5286" y="16410"/>
                  </a:lnTo>
                  <a:lnTo>
                    <a:pt x="3739" y="16982"/>
                  </a:lnTo>
                  <a:lnTo>
                    <a:pt x="2786" y="18880"/>
                  </a:lnTo>
                  <a:lnTo>
                    <a:pt x="16121" y="21624"/>
                  </a:lnTo>
                  <a:lnTo>
                    <a:pt x="17597" y="14075"/>
                  </a:lnTo>
                  <a:lnTo>
                    <a:pt x="19360" y="10097"/>
                  </a:lnTo>
                  <a:close/>
                </a:path>
              </a:pathLst>
            </a:cu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24" name="Google Shape;1124;p61"/>
            <p:cNvSpPr/>
            <p:nvPr/>
          </p:nvSpPr>
          <p:spPr>
            <a:xfrm>
              <a:off x="2009090" y="3737977"/>
              <a:ext cx="166147" cy="268501"/>
            </a:xfrm>
            <a:custGeom>
              <a:rect b="b" l="l" r="r" t="t"/>
              <a:pathLst>
                <a:path extrusionOk="0" h="6810" w="4214">
                  <a:moveTo>
                    <a:pt x="0" y="6572"/>
                  </a:moveTo>
                  <a:lnTo>
                    <a:pt x="2381" y="6810"/>
                  </a:lnTo>
                  <a:lnTo>
                    <a:pt x="3786" y="6001"/>
                  </a:lnTo>
                  <a:lnTo>
                    <a:pt x="4214" y="452"/>
                  </a:lnTo>
                  <a:lnTo>
                    <a:pt x="1928" y="0"/>
                  </a:lnTo>
                  <a:lnTo>
                    <a:pt x="1595" y="2429"/>
                  </a:lnTo>
                  <a:close/>
                </a:path>
              </a:pathLst>
            </a:cu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25" name="Google Shape;1125;p61"/>
            <p:cNvSpPr/>
            <p:nvPr/>
          </p:nvSpPr>
          <p:spPr>
            <a:xfrm>
              <a:off x="1710620" y="3389591"/>
              <a:ext cx="605606" cy="435634"/>
            </a:xfrm>
            <a:custGeom>
              <a:rect b="b" l="l" r="r" t="t"/>
              <a:pathLst>
                <a:path extrusionOk="0" h="11049" w="15360">
                  <a:moveTo>
                    <a:pt x="0" y="1548"/>
                  </a:moveTo>
                  <a:lnTo>
                    <a:pt x="2525" y="7430"/>
                  </a:lnTo>
                  <a:lnTo>
                    <a:pt x="4263" y="8525"/>
                  </a:lnTo>
                  <a:lnTo>
                    <a:pt x="4620" y="9477"/>
                  </a:lnTo>
                  <a:lnTo>
                    <a:pt x="5882" y="10025"/>
                  </a:lnTo>
                  <a:lnTo>
                    <a:pt x="6501" y="9763"/>
                  </a:lnTo>
                  <a:lnTo>
                    <a:pt x="7716" y="10001"/>
                  </a:lnTo>
                  <a:lnTo>
                    <a:pt x="8240" y="9858"/>
                  </a:lnTo>
                  <a:lnTo>
                    <a:pt x="8454" y="10668"/>
                  </a:lnTo>
                  <a:lnTo>
                    <a:pt x="9216" y="11049"/>
                  </a:lnTo>
                  <a:lnTo>
                    <a:pt x="9859" y="10549"/>
                  </a:lnTo>
                  <a:lnTo>
                    <a:pt x="10764" y="9644"/>
                  </a:lnTo>
                  <a:lnTo>
                    <a:pt x="11978" y="9739"/>
                  </a:lnTo>
                  <a:lnTo>
                    <a:pt x="12954" y="10144"/>
                  </a:lnTo>
                  <a:lnTo>
                    <a:pt x="13812" y="9716"/>
                  </a:lnTo>
                  <a:lnTo>
                    <a:pt x="15360" y="9287"/>
                  </a:lnTo>
                  <a:lnTo>
                    <a:pt x="13621" y="7453"/>
                  </a:lnTo>
                  <a:lnTo>
                    <a:pt x="11550" y="6310"/>
                  </a:lnTo>
                  <a:lnTo>
                    <a:pt x="9930" y="5953"/>
                  </a:lnTo>
                  <a:lnTo>
                    <a:pt x="8978" y="4215"/>
                  </a:lnTo>
                  <a:lnTo>
                    <a:pt x="7882" y="3262"/>
                  </a:lnTo>
                  <a:lnTo>
                    <a:pt x="8787" y="1572"/>
                  </a:lnTo>
                  <a:lnTo>
                    <a:pt x="8525" y="357"/>
                  </a:lnTo>
                  <a:lnTo>
                    <a:pt x="7787" y="167"/>
                  </a:lnTo>
                  <a:lnTo>
                    <a:pt x="7597" y="0"/>
                  </a:lnTo>
                  <a:lnTo>
                    <a:pt x="3644" y="905"/>
                  </a:lnTo>
                  <a:close/>
                </a:path>
              </a:pathLst>
            </a:custGeom>
            <a:gradFill>
              <a:gsLst>
                <a:gs pos="0">
                  <a:srgbClr val="F4D8C9"/>
                </a:gs>
                <a:gs pos="100000">
                  <a:srgbClr val="C8B6A6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26" name="Google Shape;1126;p61"/>
            <p:cNvSpPr/>
            <p:nvPr/>
          </p:nvSpPr>
          <p:spPr>
            <a:xfrm>
              <a:off x="2039252" y="3546436"/>
              <a:ext cx="9384" cy="158696"/>
            </a:xfrm>
            <a:custGeom>
              <a:rect b="b" l="l" r="r" t="t"/>
              <a:pathLst>
                <a:path extrusionOk="0" h="4025" w="238">
                  <a:moveTo>
                    <a:pt x="238" y="0"/>
                  </a:moveTo>
                  <a:lnTo>
                    <a:pt x="0" y="4025"/>
                  </a:lnTo>
                </a:path>
              </a:pathLst>
            </a:custGeom>
            <a:solidFill>
              <a:srgbClr val="783F04"/>
            </a:solidFill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27" name="Google Shape;1127;p61"/>
            <p:cNvSpPr/>
            <p:nvPr/>
          </p:nvSpPr>
          <p:spPr>
            <a:xfrm>
              <a:off x="2015792" y="3708879"/>
              <a:ext cx="118283" cy="62887"/>
            </a:xfrm>
            <a:custGeom>
              <a:rect b="b" l="l" r="r" t="t"/>
              <a:pathLst>
                <a:path extrusionOk="0" h="1595" w="3000">
                  <a:moveTo>
                    <a:pt x="904" y="0"/>
                  </a:moveTo>
                  <a:lnTo>
                    <a:pt x="3000" y="1595"/>
                  </a:lnTo>
                  <a:lnTo>
                    <a:pt x="2071" y="1571"/>
                  </a:lnTo>
                  <a:lnTo>
                    <a:pt x="166" y="714"/>
                  </a:lnTo>
                  <a:lnTo>
                    <a:pt x="0" y="24"/>
                  </a:lnTo>
                  <a:close/>
                </a:path>
              </a:pathLst>
            </a:cu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28" name="Google Shape;1128;p61"/>
            <p:cNvSpPr/>
            <p:nvPr/>
          </p:nvSpPr>
          <p:spPr>
            <a:xfrm>
              <a:off x="2125639" y="3778351"/>
              <a:ext cx="112644" cy="47865"/>
            </a:xfrm>
            <a:custGeom>
              <a:rect b="b" l="l" r="r" t="t"/>
              <a:pathLst>
                <a:path extrusionOk="0" h="1214" w="2857">
                  <a:moveTo>
                    <a:pt x="357" y="0"/>
                  </a:moveTo>
                  <a:lnTo>
                    <a:pt x="2857" y="1072"/>
                  </a:lnTo>
                  <a:lnTo>
                    <a:pt x="2024" y="1214"/>
                  </a:lnTo>
                  <a:lnTo>
                    <a:pt x="0" y="381"/>
                  </a:lnTo>
                  <a:close/>
                </a:path>
              </a:pathLst>
            </a:cu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29" name="Google Shape;1129;p61"/>
            <p:cNvSpPr/>
            <p:nvPr/>
          </p:nvSpPr>
          <p:spPr>
            <a:xfrm>
              <a:off x="2237338" y="3778351"/>
              <a:ext cx="9384" cy="35682"/>
            </a:xfrm>
            <a:custGeom>
              <a:rect b="b" l="l" r="r" t="t"/>
              <a:pathLst>
                <a:path extrusionOk="0" h="905" w="238">
                  <a:moveTo>
                    <a:pt x="0" y="905"/>
                  </a:moveTo>
                  <a:lnTo>
                    <a:pt x="238" y="0"/>
                  </a:lnTo>
                </a:path>
              </a:pathLst>
            </a:cu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30" name="Google Shape;1130;p61"/>
            <p:cNvSpPr/>
            <p:nvPr/>
          </p:nvSpPr>
          <p:spPr>
            <a:xfrm>
              <a:off x="1953812" y="3262081"/>
              <a:ext cx="519181" cy="496037"/>
            </a:xfrm>
            <a:custGeom>
              <a:rect b="b" l="l" r="r" t="t"/>
              <a:pathLst>
                <a:path extrusionOk="0" h="12581" w="13168">
                  <a:moveTo>
                    <a:pt x="1762" y="6557"/>
                  </a:moveTo>
                  <a:lnTo>
                    <a:pt x="2762" y="7390"/>
                  </a:lnTo>
                  <a:lnTo>
                    <a:pt x="3786" y="9247"/>
                  </a:lnTo>
                  <a:lnTo>
                    <a:pt x="5572" y="9581"/>
                  </a:lnTo>
                  <a:lnTo>
                    <a:pt x="7596" y="10724"/>
                  </a:lnTo>
                  <a:lnTo>
                    <a:pt x="9215" y="12581"/>
                  </a:lnTo>
                  <a:lnTo>
                    <a:pt x="10716" y="12462"/>
                  </a:lnTo>
                  <a:lnTo>
                    <a:pt x="12001" y="11010"/>
                  </a:lnTo>
                  <a:lnTo>
                    <a:pt x="13168" y="7509"/>
                  </a:lnTo>
                  <a:lnTo>
                    <a:pt x="12859" y="3644"/>
                  </a:lnTo>
                  <a:lnTo>
                    <a:pt x="10692" y="1477"/>
                  </a:lnTo>
                  <a:lnTo>
                    <a:pt x="7263" y="48"/>
                  </a:lnTo>
                  <a:lnTo>
                    <a:pt x="5834" y="0"/>
                  </a:lnTo>
                  <a:lnTo>
                    <a:pt x="4500" y="691"/>
                  </a:lnTo>
                  <a:lnTo>
                    <a:pt x="2953" y="953"/>
                  </a:lnTo>
                  <a:lnTo>
                    <a:pt x="1357" y="2382"/>
                  </a:lnTo>
                  <a:lnTo>
                    <a:pt x="0" y="3501"/>
                  </a:lnTo>
                  <a:lnTo>
                    <a:pt x="1500" y="3215"/>
                  </a:lnTo>
                  <a:lnTo>
                    <a:pt x="2524" y="3786"/>
                  </a:lnTo>
                  <a:lnTo>
                    <a:pt x="2738" y="4810"/>
                  </a:lnTo>
                  <a:close/>
                </a:path>
              </a:pathLst>
            </a:custGeom>
            <a:gradFill>
              <a:gsLst>
                <a:gs pos="0">
                  <a:srgbClr val="B45F06"/>
                </a:gs>
                <a:gs pos="100000">
                  <a:srgbClr val="7F60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31" name="Google Shape;1131;p61"/>
            <p:cNvSpPr/>
            <p:nvPr/>
          </p:nvSpPr>
          <p:spPr>
            <a:xfrm>
              <a:off x="1832689" y="3237675"/>
              <a:ext cx="349249" cy="184954"/>
            </a:xfrm>
            <a:custGeom>
              <a:rect b="b" l="l" r="r" t="t"/>
              <a:pathLst>
                <a:path extrusionOk="0" h="4691" w="8858">
                  <a:moveTo>
                    <a:pt x="8858" y="619"/>
                  </a:moveTo>
                  <a:lnTo>
                    <a:pt x="8144" y="0"/>
                  </a:lnTo>
                  <a:lnTo>
                    <a:pt x="5382" y="738"/>
                  </a:lnTo>
                  <a:lnTo>
                    <a:pt x="2429" y="1619"/>
                  </a:lnTo>
                  <a:lnTo>
                    <a:pt x="453" y="2715"/>
                  </a:lnTo>
                  <a:lnTo>
                    <a:pt x="0" y="4691"/>
                  </a:lnTo>
                  <a:lnTo>
                    <a:pt x="3000" y="4072"/>
                  </a:lnTo>
                  <a:lnTo>
                    <a:pt x="6168" y="1453"/>
                  </a:lnTo>
                  <a:lnTo>
                    <a:pt x="7739" y="1286"/>
                  </a:lnTo>
                  <a:close/>
                </a:path>
              </a:pathLst>
            </a:custGeom>
            <a:gradFill>
              <a:gsLst>
                <a:gs pos="0">
                  <a:srgbClr val="B45F06"/>
                </a:gs>
                <a:gs pos="100000">
                  <a:srgbClr val="7F60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32" name="Google Shape;1132;p61"/>
            <p:cNvSpPr/>
            <p:nvPr/>
          </p:nvSpPr>
          <p:spPr>
            <a:xfrm>
              <a:off x="2083372" y="3650210"/>
              <a:ext cx="66672" cy="108938"/>
            </a:xfrm>
            <a:custGeom>
              <a:rect b="b" l="l" r="r" t="t"/>
              <a:pathLst>
                <a:path extrusionOk="0" h="2763" w="1691">
                  <a:moveTo>
                    <a:pt x="0" y="0"/>
                  </a:moveTo>
                  <a:lnTo>
                    <a:pt x="1238" y="2620"/>
                  </a:lnTo>
                  <a:lnTo>
                    <a:pt x="1691" y="2763"/>
                  </a:lnTo>
                  <a:lnTo>
                    <a:pt x="1167" y="1715"/>
                  </a:lnTo>
                  <a:close/>
                </a:path>
              </a:pathLst>
            </a:cu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33" name="Google Shape;1133;p61"/>
            <p:cNvSpPr/>
            <p:nvPr/>
          </p:nvSpPr>
          <p:spPr>
            <a:xfrm>
              <a:off x="1891791" y="3997098"/>
              <a:ext cx="147380" cy="170879"/>
            </a:xfrm>
            <a:custGeom>
              <a:rect b="b" l="l" r="r" t="t"/>
              <a:pathLst>
                <a:path extrusionOk="0" h="4334" w="3738">
                  <a:moveTo>
                    <a:pt x="3738" y="143"/>
                  </a:moveTo>
                  <a:lnTo>
                    <a:pt x="2548" y="3810"/>
                  </a:lnTo>
                  <a:lnTo>
                    <a:pt x="2619" y="4334"/>
                  </a:lnTo>
                  <a:lnTo>
                    <a:pt x="1214" y="3834"/>
                  </a:lnTo>
                  <a:lnTo>
                    <a:pt x="428" y="4072"/>
                  </a:lnTo>
                  <a:lnTo>
                    <a:pt x="0" y="3715"/>
                  </a:lnTo>
                  <a:lnTo>
                    <a:pt x="1381" y="2501"/>
                  </a:lnTo>
                  <a:lnTo>
                    <a:pt x="2786" y="0"/>
                  </a:lnTo>
                  <a:close/>
                </a:path>
              </a:pathLst>
            </a:custGeom>
            <a:gradFill>
              <a:gsLst>
                <a:gs pos="0">
                  <a:srgbClr val="F4D8C9"/>
                </a:gs>
                <a:gs pos="100000">
                  <a:srgbClr val="C8B6A6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34" name="Google Shape;1134;p61"/>
            <p:cNvSpPr/>
            <p:nvPr/>
          </p:nvSpPr>
          <p:spPr>
            <a:xfrm>
              <a:off x="1811989" y="4150355"/>
              <a:ext cx="241257" cy="100422"/>
            </a:xfrm>
            <a:custGeom>
              <a:rect b="b" l="l" r="r" t="t"/>
              <a:pathLst>
                <a:path extrusionOk="0" h="2547" w="6119">
                  <a:moveTo>
                    <a:pt x="1976" y="0"/>
                  </a:moveTo>
                  <a:lnTo>
                    <a:pt x="0" y="1452"/>
                  </a:lnTo>
                  <a:lnTo>
                    <a:pt x="309" y="2547"/>
                  </a:lnTo>
                  <a:lnTo>
                    <a:pt x="1952" y="2333"/>
                  </a:lnTo>
                  <a:lnTo>
                    <a:pt x="2333" y="1119"/>
                  </a:lnTo>
                  <a:lnTo>
                    <a:pt x="2762" y="2119"/>
                  </a:lnTo>
                  <a:lnTo>
                    <a:pt x="3786" y="1833"/>
                  </a:lnTo>
                  <a:lnTo>
                    <a:pt x="6119" y="2095"/>
                  </a:lnTo>
                  <a:lnTo>
                    <a:pt x="4905" y="500"/>
                  </a:lnTo>
                  <a:lnTo>
                    <a:pt x="3429" y="0"/>
                  </a:lnTo>
                  <a:close/>
                </a:path>
              </a:pathLst>
            </a:custGeom>
            <a:gradFill>
              <a:gsLst>
                <a:gs pos="0">
                  <a:srgbClr val="F4D8C9"/>
                </a:gs>
                <a:gs pos="100000">
                  <a:srgbClr val="C8B6A6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35" name="Google Shape;1135;p61"/>
            <p:cNvSpPr/>
            <p:nvPr/>
          </p:nvSpPr>
          <p:spPr>
            <a:xfrm>
              <a:off x="1820190" y="4105761"/>
              <a:ext cx="277875" cy="273231"/>
            </a:xfrm>
            <a:custGeom>
              <a:rect b="b" l="l" r="r" t="t"/>
              <a:pathLst>
                <a:path extrusionOk="0" h="5322" w="5334">
                  <a:moveTo>
                    <a:pt x="5334" y="4751"/>
                  </a:moveTo>
                  <a:lnTo>
                    <a:pt x="554" y="0"/>
                  </a:lnTo>
                  <a:lnTo>
                    <a:pt x="0" y="476"/>
                  </a:lnTo>
                  <a:lnTo>
                    <a:pt x="5310" y="5322"/>
                  </a:lnTo>
                  <a:close/>
                </a:path>
              </a:pathLst>
            </a:custGeom>
            <a:gradFill>
              <a:gsLst>
                <a:gs pos="0">
                  <a:srgbClr val="2297E6"/>
                </a:gs>
                <a:gs pos="100000">
                  <a:srgbClr val="B5C0D9"/>
                </a:gs>
              </a:gsLst>
              <a:lin ang="5400012" scaled="0"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36" name="Google Shape;1136;p61"/>
            <p:cNvSpPr/>
            <p:nvPr/>
          </p:nvSpPr>
          <p:spPr>
            <a:xfrm>
              <a:off x="1146050" y="4040035"/>
              <a:ext cx="931356" cy="381185"/>
            </a:xfrm>
            <a:custGeom>
              <a:rect b="b" l="l" r="r" t="t"/>
              <a:pathLst>
                <a:path extrusionOk="0" h="9668" w="23622">
                  <a:moveTo>
                    <a:pt x="691" y="0"/>
                  </a:moveTo>
                  <a:lnTo>
                    <a:pt x="6430" y="3525"/>
                  </a:lnTo>
                  <a:lnTo>
                    <a:pt x="3072" y="4810"/>
                  </a:lnTo>
                  <a:lnTo>
                    <a:pt x="6644" y="3525"/>
                  </a:lnTo>
                  <a:lnTo>
                    <a:pt x="17050" y="5525"/>
                  </a:lnTo>
                  <a:lnTo>
                    <a:pt x="19788" y="4668"/>
                  </a:lnTo>
                  <a:lnTo>
                    <a:pt x="23408" y="5025"/>
                  </a:lnTo>
                  <a:lnTo>
                    <a:pt x="23551" y="5858"/>
                  </a:lnTo>
                  <a:lnTo>
                    <a:pt x="22836" y="6311"/>
                  </a:lnTo>
                  <a:lnTo>
                    <a:pt x="23622" y="6763"/>
                  </a:lnTo>
                  <a:lnTo>
                    <a:pt x="23170" y="7668"/>
                  </a:lnTo>
                  <a:lnTo>
                    <a:pt x="22741" y="7787"/>
                  </a:lnTo>
                  <a:lnTo>
                    <a:pt x="23051" y="8287"/>
                  </a:lnTo>
                  <a:lnTo>
                    <a:pt x="22598" y="8692"/>
                  </a:lnTo>
                  <a:lnTo>
                    <a:pt x="21193" y="8740"/>
                  </a:lnTo>
                  <a:lnTo>
                    <a:pt x="21765" y="8716"/>
                  </a:lnTo>
                  <a:lnTo>
                    <a:pt x="20908" y="9478"/>
                  </a:lnTo>
                  <a:lnTo>
                    <a:pt x="18931" y="9668"/>
                  </a:lnTo>
                  <a:lnTo>
                    <a:pt x="16121" y="8954"/>
                  </a:lnTo>
                  <a:lnTo>
                    <a:pt x="11264" y="8954"/>
                  </a:lnTo>
                  <a:lnTo>
                    <a:pt x="6549" y="8716"/>
                  </a:lnTo>
                  <a:lnTo>
                    <a:pt x="1119" y="7168"/>
                  </a:lnTo>
                  <a:lnTo>
                    <a:pt x="0" y="4810"/>
                  </a:lnTo>
                  <a:close/>
                </a:path>
              </a:pathLst>
            </a:custGeom>
            <a:gradFill>
              <a:gsLst>
                <a:gs pos="0">
                  <a:srgbClr val="F4D8C9"/>
                </a:gs>
                <a:gs pos="100000">
                  <a:srgbClr val="C8B6A6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37" name="Google Shape;1137;p61"/>
            <p:cNvSpPr/>
            <p:nvPr/>
          </p:nvSpPr>
          <p:spPr>
            <a:xfrm>
              <a:off x="1146247" y="3600018"/>
              <a:ext cx="422505" cy="583290"/>
            </a:xfrm>
            <a:custGeom>
              <a:rect b="b" l="l" r="r" t="t"/>
              <a:pathLst>
                <a:path extrusionOk="0" h="14794" w="10716">
                  <a:moveTo>
                    <a:pt x="4215" y="473"/>
                  </a:moveTo>
                  <a:lnTo>
                    <a:pt x="0" y="10889"/>
                  </a:lnTo>
                  <a:lnTo>
                    <a:pt x="738" y="11222"/>
                  </a:lnTo>
                  <a:lnTo>
                    <a:pt x="6477" y="14794"/>
                  </a:lnTo>
                  <a:lnTo>
                    <a:pt x="7144" y="14461"/>
                  </a:lnTo>
                  <a:lnTo>
                    <a:pt x="7977" y="12675"/>
                  </a:lnTo>
                  <a:lnTo>
                    <a:pt x="9620" y="12032"/>
                  </a:lnTo>
                  <a:lnTo>
                    <a:pt x="10716" y="4763"/>
                  </a:lnTo>
                  <a:lnTo>
                    <a:pt x="8953" y="2096"/>
                  </a:lnTo>
                  <a:lnTo>
                    <a:pt x="6310" y="0"/>
                  </a:lnTo>
                  <a:close/>
                </a:path>
              </a:pathLst>
            </a:cu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1138" name="Google Shape;1138;p61"/>
          <p:cNvGrpSpPr/>
          <p:nvPr/>
        </p:nvGrpSpPr>
        <p:grpSpPr>
          <a:xfrm>
            <a:off x="3245514" y="1068450"/>
            <a:ext cx="5442873" cy="1406400"/>
            <a:chOff x="3678525" y="961554"/>
            <a:chExt cx="4902606" cy="1406400"/>
          </a:xfrm>
        </p:grpSpPr>
        <p:sp>
          <p:nvSpPr>
            <p:cNvPr id="1139" name="Google Shape;1139;p61"/>
            <p:cNvSpPr txBox="1"/>
            <p:nvPr/>
          </p:nvSpPr>
          <p:spPr>
            <a:xfrm>
              <a:off x="3678531" y="961554"/>
              <a:ext cx="4902600" cy="7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Manual labeling: 		4 seconds / syllable</a:t>
              </a:r>
              <a:endParaRPr b="0" i="0" sz="2000" u="none" cap="none" strike="noStrike">
                <a:solidFill>
                  <a:srgbClr val="BB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61"/>
            <p:cNvSpPr txBox="1"/>
            <p:nvPr/>
          </p:nvSpPr>
          <p:spPr>
            <a:xfrm>
              <a:off x="3678525" y="1647354"/>
              <a:ext cx="4576800" cy="7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Our Dataset:			570 hours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All birds: 				15+ years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1" name="Google Shape;1141;p61"/>
          <p:cNvGrpSpPr/>
          <p:nvPr/>
        </p:nvGrpSpPr>
        <p:grpSpPr>
          <a:xfrm flipH="1">
            <a:off x="1906906" y="1503267"/>
            <a:ext cx="1214200" cy="536775"/>
            <a:chOff x="219400" y="3500167"/>
            <a:chExt cx="1214200" cy="536775"/>
          </a:xfrm>
        </p:grpSpPr>
        <p:pic>
          <p:nvPicPr>
            <p:cNvPr id="1142" name="Google Shape;1142;p61"/>
            <p:cNvPicPr preferRelativeResize="0"/>
            <p:nvPr/>
          </p:nvPicPr>
          <p:blipFill rotWithShape="1">
            <a:blip r:embed="rId3">
              <a:alphaModFix/>
            </a:blip>
            <a:srcRect b="30135" l="34329" r="44454" t="45477"/>
            <a:stretch/>
          </p:blipFill>
          <p:spPr>
            <a:xfrm>
              <a:off x="219400" y="3500167"/>
              <a:ext cx="1214200" cy="53677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43" name="Google Shape;1143;p61"/>
            <p:cNvSpPr/>
            <p:nvPr/>
          </p:nvSpPr>
          <p:spPr>
            <a:xfrm>
              <a:off x="260873" y="3838869"/>
              <a:ext cx="263700" cy="828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61"/>
            <p:cNvSpPr/>
            <p:nvPr/>
          </p:nvSpPr>
          <p:spPr>
            <a:xfrm>
              <a:off x="538161" y="3774940"/>
              <a:ext cx="243900" cy="1821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61"/>
            <p:cNvSpPr/>
            <p:nvPr/>
          </p:nvSpPr>
          <p:spPr>
            <a:xfrm>
              <a:off x="789974" y="3548822"/>
              <a:ext cx="176700" cy="2253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61"/>
            <p:cNvSpPr/>
            <p:nvPr/>
          </p:nvSpPr>
          <p:spPr>
            <a:xfrm>
              <a:off x="978952" y="3592809"/>
              <a:ext cx="171000" cy="1470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61"/>
            <p:cNvSpPr/>
            <p:nvPr/>
          </p:nvSpPr>
          <p:spPr>
            <a:xfrm>
              <a:off x="1149900" y="3859496"/>
              <a:ext cx="243900" cy="1086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48" name="Google Shape;1148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96" y="799513"/>
            <a:ext cx="109590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6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Automatic labeling is extremely efficient</a:t>
            </a:r>
            <a:endParaRPr/>
          </a:p>
        </p:txBody>
      </p:sp>
      <p:sp>
        <p:nvSpPr>
          <p:cNvPr id="1150" name="Google Shape;1150;p61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Provost, Yang*, Carstens 2022, </a:t>
            </a:r>
            <a:r>
              <a:rPr i="1" lang="en-US" sz="1400">
                <a:solidFill>
                  <a:srgbClr val="000000"/>
                </a:solidFill>
              </a:rPr>
              <a:t>PLOS ONE</a:t>
            </a:r>
            <a:r>
              <a:rPr lang="en-US" sz="1400"/>
              <a:t>; Cohen et al. 2022, </a:t>
            </a:r>
            <a:r>
              <a:rPr i="1" lang="en-US" sz="1400"/>
              <a:t>eLife</a:t>
            </a:r>
            <a:endParaRPr sz="1400"/>
          </a:p>
        </p:txBody>
      </p:sp>
      <p:grpSp>
        <p:nvGrpSpPr>
          <p:cNvPr id="1151" name="Google Shape;1151;p61"/>
          <p:cNvGrpSpPr/>
          <p:nvPr/>
        </p:nvGrpSpPr>
        <p:grpSpPr>
          <a:xfrm>
            <a:off x="455615" y="2877426"/>
            <a:ext cx="1326931" cy="988859"/>
            <a:chOff x="5243875" y="3295550"/>
            <a:chExt cx="826800" cy="616150"/>
          </a:xfrm>
        </p:grpSpPr>
        <p:sp>
          <p:nvSpPr>
            <p:cNvPr id="1152" name="Google Shape;1152;p61"/>
            <p:cNvSpPr/>
            <p:nvPr/>
          </p:nvSpPr>
          <p:spPr>
            <a:xfrm>
              <a:off x="5325625" y="3295550"/>
              <a:ext cx="663300" cy="435600"/>
            </a:xfrm>
            <a:prstGeom prst="round2SameRect">
              <a:avLst>
                <a:gd fmla="val 4907" name="adj1"/>
                <a:gd fmla="val 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61"/>
            <p:cNvSpPr/>
            <p:nvPr/>
          </p:nvSpPr>
          <p:spPr>
            <a:xfrm flipH="1" rot="10800000">
              <a:off x="5243875" y="3875400"/>
              <a:ext cx="826800" cy="36300"/>
            </a:xfrm>
            <a:prstGeom prst="round2SameRect">
              <a:avLst>
                <a:gd fmla="val 16667" name="adj1"/>
                <a:gd fmla="val 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61"/>
            <p:cNvSpPr/>
            <p:nvPr/>
          </p:nvSpPr>
          <p:spPr>
            <a:xfrm>
              <a:off x="5244925" y="3731275"/>
              <a:ext cx="824700" cy="144000"/>
            </a:xfrm>
            <a:prstGeom prst="trapezoid">
              <a:avLst>
                <a:gd fmla="val 58090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61"/>
            <p:cNvSpPr/>
            <p:nvPr/>
          </p:nvSpPr>
          <p:spPr>
            <a:xfrm>
              <a:off x="5378100" y="3341700"/>
              <a:ext cx="546600" cy="346800"/>
            </a:xfrm>
            <a:prstGeom prst="rect">
              <a:avLst/>
            </a:prstGeom>
            <a:gradFill>
              <a:gsLst>
                <a:gs pos="0">
                  <a:srgbClr val="8C8C8C"/>
                </a:gs>
                <a:gs pos="100000">
                  <a:srgbClr val="40404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61"/>
            <p:cNvSpPr/>
            <p:nvPr/>
          </p:nvSpPr>
          <p:spPr>
            <a:xfrm>
              <a:off x="5353725" y="37507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61"/>
            <p:cNvSpPr/>
            <p:nvPr/>
          </p:nvSpPr>
          <p:spPr>
            <a:xfrm>
              <a:off x="5423375" y="37507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61"/>
            <p:cNvSpPr/>
            <p:nvPr/>
          </p:nvSpPr>
          <p:spPr>
            <a:xfrm>
              <a:off x="5488275" y="37507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61"/>
            <p:cNvSpPr/>
            <p:nvPr/>
          </p:nvSpPr>
          <p:spPr>
            <a:xfrm>
              <a:off x="5556150" y="37507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61"/>
            <p:cNvSpPr/>
            <p:nvPr/>
          </p:nvSpPr>
          <p:spPr>
            <a:xfrm>
              <a:off x="5344200" y="3768625"/>
              <a:ext cx="750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61"/>
            <p:cNvSpPr/>
            <p:nvPr/>
          </p:nvSpPr>
          <p:spPr>
            <a:xfrm>
              <a:off x="5423049" y="3768625"/>
              <a:ext cx="651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61"/>
            <p:cNvSpPr/>
            <p:nvPr/>
          </p:nvSpPr>
          <p:spPr>
            <a:xfrm>
              <a:off x="5496523" y="3768625"/>
              <a:ext cx="651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61"/>
            <p:cNvSpPr/>
            <p:nvPr/>
          </p:nvSpPr>
          <p:spPr>
            <a:xfrm>
              <a:off x="5573385" y="3768625"/>
              <a:ext cx="555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61"/>
            <p:cNvSpPr/>
            <p:nvPr/>
          </p:nvSpPr>
          <p:spPr>
            <a:xfrm>
              <a:off x="5335875" y="3786475"/>
              <a:ext cx="936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61"/>
            <p:cNvSpPr/>
            <p:nvPr/>
          </p:nvSpPr>
          <p:spPr>
            <a:xfrm>
              <a:off x="5445065" y="3786475"/>
              <a:ext cx="627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61"/>
            <p:cNvSpPr/>
            <p:nvPr/>
          </p:nvSpPr>
          <p:spPr>
            <a:xfrm>
              <a:off x="5531252" y="3786475"/>
              <a:ext cx="627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61"/>
            <p:cNvSpPr/>
            <p:nvPr/>
          </p:nvSpPr>
          <p:spPr>
            <a:xfrm>
              <a:off x="5325625" y="3804325"/>
              <a:ext cx="1344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61"/>
            <p:cNvSpPr/>
            <p:nvPr/>
          </p:nvSpPr>
          <p:spPr>
            <a:xfrm flipH="1" rot="10800000">
              <a:off x="5693130" y="37864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61"/>
            <p:cNvSpPr/>
            <p:nvPr/>
          </p:nvSpPr>
          <p:spPr>
            <a:xfrm flipH="1" rot="10800000">
              <a:off x="5855005" y="380432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61"/>
            <p:cNvSpPr/>
            <p:nvPr/>
          </p:nvSpPr>
          <p:spPr>
            <a:xfrm flipH="1" rot="10800000">
              <a:off x="5940030" y="380432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61"/>
            <p:cNvSpPr/>
            <p:nvPr/>
          </p:nvSpPr>
          <p:spPr>
            <a:xfrm flipH="1" rot="10800000">
              <a:off x="5681494" y="3750775"/>
              <a:ext cx="1182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61"/>
            <p:cNvSpPr/>
            <p:nvPr/>
          </p:nvSpPr>
          <p:spPr>
            <a:xfrm flipH="1" rot="10800000">
              <a:off x="5760674" y="3786475"/>
              <a:ext cx="720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61"/>
            <p:cNvSpPr/>
            <p:nvPr/>
          </p:nvSpPr>
          <p:spPr>
            <a:xfrm flipH="1" rot="10800000">
              <a:off x="5841208" y="3786475"/>
              <a:ext cx="651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61"/>
            <p:cNvSpPr/>
            <p:nvPr/>
          </p:nvSpPr>
          <p:spPr>
            <a:xfrm flipH="1" rot="10800000">
              <a:off x="5918071" y="3786475"/>
              <a:ext cx="555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61"/>
            <p:cNvSpPr/>
            <p:nvPr/>
          </p:nvSpPr>
          <p:spPr>
            <a:xfrm flipH="1" rot="10800000">
              <a:off x="5705322" y="3768625"/>
              <a:ext cx="1218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61"/>
            <p:cNvSpPr/>
            <p:nvPr/>
          </p:nvSpPr>
          <p:spPr>
            <a:xfrm flipH="1" rot="10800000">
              <a:off x="5832826" y="3768625"/>
              <a:ext cx="627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61"/>
            <p:cNvSpPr/>
            <p:nvPr/>
          </p:nvSpPr>
          <p:spPr>
            <a:xfrm flipH="1" rot="10800000">
              <a:off x="5903912" y="3768625"/>
              <a:ext cx="627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61"/>
            <p:cNvSpPr/>
            <p:nvPr/>
          </p:nvSpPr>
          <p:spPr>
            <a:xfrm flipH="1" rot="10800000">
              <a:off x="5821536" y="3750775"/>
              <a:ext cx="1344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61"/>
            <p:cNvSpPr/>
            <p:nvPr/>
          </p:nvSpPr>
          <p:spPr>
            <a:xfrm>
              <a:off x="5619600" y="3751075"/>
              <a:ext cx="41700" cy="12600"/>
            </a:xfrm>
            <a:prstGeom prst="trapezoid">
              <a:avLst>
                <a:gd fmla="val 25000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61"/>
            <p:cNvSpPr/>
            <p:nvPr/>
          </p:nvSpPr>
          <p:spPr>
            <a:xfrm>
              <a:off x="5646250" y="3768625"/>
              <a:ext cx="41700" cy="12600"/>
            </a:xfrm>
            <a:prstGeom prst="trapezoid">
              <a:avLst>
                <a:gd fmla="val 25000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61"/>
            <p:cNvSpPr/>
            <p:nvPr/>
          </p:nvSpPr>
          <p:spPr>
            <a:xfrm>
              <a:off x="5613375" y="3786175"/>
              <a:ext cx="41700" cy="12600"/>
            </a:xfrm>
            <a:prstGeom prst="trapezoid">
              <a:avLst>
                <a:gd fmla="val 25000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61"/>
            <p:cNvSpPr/>
            <p:nvPr/>
          </p:nvSpPr>
          <p:spPr>
            <a:xfrm>
              <a:off x="5508225" y="3804325"/>
              <a:ext cx="297000" cy="12600"/>
            </a:xfrm>
            <a:prstGeom prst="trapezoid">
              <a:avLst>
                <a:gd fmla="val 75992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61"/>
            <p:cNvSpPr/>
            <p:nvPr/>
          </p:nvSpPr>
          <p:spPr>
            <a:xfrm>
              <a:off x="5502900" y="3822175"/>
              <a:ext cx="306600" cy="24000"/>
            </a:xfrm>
            <a:prstGeom prst="trapezoid">
              <a:avLst>
                <a:gd fmla="val 49687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4" name="Google Shape;1184;p61"/>
          <p:cNvGrpSpPr/>
          <p:nvPr/>
        </p:nvGrpSpPr>
        <p:grpSpPr>
          <a:xfrm>
            <a:off x="3245362" y="2668650"/>
            <a:ext cx="5442874" cy="1406400"/>
            <a:chOff x="3678525" y="961550"/>
            <a:chExt cx="5081100" cy="1406400"/>
          </a:xfrm>
        </p:grpSpPr>
        <p:sp>
          <p:nvSpPr>
            <p:cNvPr id="1185" name="Google Shape;1185;p61"/>
            <p:cNvSpPr txBox="1"/>
            <p:nvPr/>
          </p:nvSpPr>
          <p:spPr>
            <a:xfrm>
              <a:off x="3678525" y="961550"/>
              <a:ext cx="5081100" cy="7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Automatic labeling: 		???</a:t>
              </a:r>
              <a:endParaRPr b="0" i="0" sz="2000" u="none" cap="none" strike="noStrike">
                <a:solidFill>
                  <a:srgbClr val="BB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61"/>
            <p:cNvSpPr txBox="1"/>
            <p:nvPr/>
          </p:nvSpPr>
          <p:spPr>
            <a:xfrm>
              <a:off x="3678525" y="1647350"/>
              <a:ext cx="5081100" cy="7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Our Dataset:			???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All birds: 				???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7" name="Google Shape;1187;p61"/>
          <p:cNvGrpSpPr/>
          <p:nvPr/>
        </p:nvGrpSpPr>
        <p:grpSpPr>
          <a:xfrm flipH="1">
            <a:off x="1906906" y="3103467"/>
            <a:ext cx="1214200" cy="536775"/>
            <a:chOff x="219400" y="3500167"/>
            <a:chExt cx="1214200" cy="536775"/>
          </a:xfrm>
        </p:grpSpPr>
        <p:pic>
          <p:nvPicPr>
            <p:cNvPr id="1188" name="Google Shape;1188;p61"/>
            <p:cNvPicPr preferRelativeResize="0"/>
            <p:nvPr/>
          </p:nvPicPr>
          <p:blipFill rotWithShape="1">
            <a:blip r:embed="rId3">
              <a:alphaModFix/>
            </a:blip>
            <a:srcRect b="30135" l="34329" r="44454" t="45477"/>
            <a:stretch/>
          </p:blipFill>
          <p:spPr>
            <a:xfrm>
              <a:off x="219400" y="3500167"/>
              <a:ext cx="1214200" cy="53677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89" name="Google Shape;1189;p61"/>
            <p:cNvSpPr/>
            <p:nvPr/>
          </p:nvSpPr>
          <p:spPr>
            <a:xfrm>
              <a:off x="260873" y="3838869"/>
              <a:ext cx="263700" cy="828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61"/>
            <p:cNvSpPr/>
            <p:nvPr/>
          </p:nvSpPr>
          <p:spPr>
            <a:xfrm>
              <a:off x="538161" y="3774940"/>
              <a:ext cx="243900" cy="1821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61"/>
            <p:cNvSpPr/>
            <p:nvPr/>
          </p:nvSpPr>
          <p:spPr>
            <a:xfrm>
              <a:off x="789974" y="3548822"/>
              <a:ext cx="176700" cy="2253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61"/>
            <p:cNvSpPr/>
            <p:nvPr/>
          </p:nvSpPr>
          <p:spPr>
            <a:xfrm>
              <a:off x="978952" y="3592809"/>
              <a:ext cx="171000" cy="1470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61"/>
            <p:cNvSpPr/>
            <p:nvPr/>
          </p:nvSpPr>
          <p:spPr>
            <a:xfrm>
              <a:off x="1149900" y="3859496"/>
              <a:ext cx="243900" cy="1086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94" name="Google Shape;1194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598" y="2399973"/>
            <a:ext cx="670103" cy="98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9" name="Google Shape;1199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4223" y="572700"/>
            <a:ext cx="3996354" cy="39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62"/>
          <p:cNvSpPr txBox="1"/>
          <p:nvPr/>
        </p:nvSpPr>
        <p:spPr>
          <a:xfrm>
            <a:off x="362902" y="3233497"/>
            <a:ext cx="12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TweetyNet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1" name="Google Shape;1201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853" y="1330353"/>
            <a:ext cx="1289650" cy="1903131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62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Cohen et al. 2022, </a:t>
            </a:r>
            <a:r>
              <a:rPr i="1" lang="en-US" sz="1400"/>
              <a:t>eLife</a:t>
            </a:r>
            <a:r>
              <a:rPr lang="en-US" sz="1400"/>
              <a:t>; Provost et al. 2022, </a:t>
            </a:r>
            <a:r>
              <a:rPr i="1" lang="en-US" sz="1400"/>
              <a:t>PLOS ONE</a:t>
            </a:r>
            <a:endParaRPr i="1" sz="1400"/>
          </a:p>
        </p:txBody>
      </p:sp>
      <p:sp>
        <p:nvSpPr>
          <p:cNvPr id="1203" name="Google Shape;1203;p62"/>
          <p:cNvSpPr txBox="1"/>
          <p:nvPr/>
        </p:nvSpPr>
        <p:spPr>
          <a:xfrm>
            <a:off x="6683771" y="1056150"/>
            <a:ext cx="187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Input: Image of Song (Spectrogram)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62"/>
          <p:cNvSpPr/>
          <p:nvPr/>
        </p:nvSpPr>
        <p:spPr>
          <a:xfrm>
            <a:off x="6053775" y="617700"/>
            <a:ext cx="630000" cy="1492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62"/>
          <p:cNvSpPr txBox="1"/>
          <p:nvPr/>
        </p:nvSpPr>
        <p:spPr>
          <a:xfrm>
            <a:off x="6683775" y="3667522"/>
            <a:ext cx="2460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 Location and Type of Parts of Song 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(Syllables)</a:t>
            </a:r>
            <a:endParaRPr b="0" i="0" sz="1400" u="none" cap="none" strike="noStrike">
              <a:solidFill>
                <a:srgbClr val="BB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62"/>
          <p:cNvSpPr/>
          <p:nvPr/>
        </p:nvSpPr>
        <p:spPr>
          <a:xfrm>
            <a:off x="6053775" y="3646972"/>
            <a:ext cx="630000" cy="872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62"/>
          <p:cNvSpPr txBox="1"/>
          <p:nvPr/>
        </p:nvSpPr>
        <p:spPr>
          <a:xfrm>
            <a:off x="6683775" y="2708572"/>
            <a:ext cx="246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Hidden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(cNN and rNN)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62"/>
          <p:cNvSpPr/>
          <p:nvPr/>
        </p:nvSpPr>
        <p:spPr>
          <a:xfrm>
            <a:off x="6053775" y="2580172"/>
            <a:ext cx="630000" cy="872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6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Automatic labeling is extremely efficient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4" name="Google Shape;1214;p63"/>
          <p:cNvGrpSpPr/>
          <p:nvPr/>
        </p:nvGrpSpPr>
        <p:grpSpPr>
          <a:xfrm>
            <a:off x="455730" y="1179882"/>
            <a:ext cx="1326943" cy="1183545"/>
            <a:chOff x="1146050" y="3237675"/>
            <a:chExt cx="1326943" cy="1183545"/>
          </a:xfrm>
        </p:grpSpPr>
        <p:sp>
          <p:nvSpPr>
            <p:cNvPr id="1215" name="Google Shape;1215;p63"/>
            <p:cNvSpPr/>
            <p:nvPr/>
          </p:nvSpPr>
          <p:spPr>
            <a:xfrm>
              <a:off x="1312239" y="3430833"/>
              <a:ext cx="763316" cy="852580"/>
            </a:xfrm>
            <a:custGeom>
              <a:rect b="b" l="l" r="r" t="t"/>
              <a:pathLst>
                <a:path extrusionOk="0" h="21624" w="19360">
                  <a:moveTo>
                    <a:pt x="11644" y="143"/>
                  </a:moveTo>
                  <a:lnTo>
                    <a:pt x="10287" y="0"/>
                  </a:lnTo>
                  <a:lnTo>
                    <a:pt x="4739" y="1000"/>
                  </a:lnTo>
                  <a:lnTo>
                    <a:pt x="0" y="4786"/>
                  </a:lnTo>
                  <a:lnTo>
                    <a:pt x="2048" y="4239"/>
                  </a:lnTo>
                  <a:lnTo>
                    <a:pt x="4739" y="6358"/>
                  </a:lnTo>
                  <a:lnTo>
                    <a:pt x="6477" y="9076"/>
                  </a:lnTo>
                  <a:lnTo>
                    <a:pt x="5882" y="13886"/>
                  </a:lnTo>
                  <a:lnTo>
                    <a:pt x="5286" y="16410"/>
                  </a:lnTo>
                  <a:lnTo>
                    <a:pt x="3739" y="16982"/>
                  </a:lnTo>
                  <a:lnTo>
                    <a:pt x="2786" y="18880"/>
                  </a:lnTo>
                  <a:lnTo>
                    <a:pt x="16121" y="21624"/>
                  </a:lnTo>
                  <a:lnTo>
                    <a:pt x="17597" y="14075"/>
                  </a:lnTo>
                  <a:lnTo>
                    <a:pt x="19360" y="10097"/>
                  </a:lnTo>
                  <a:close/>
                </a:path>
              </a:pathLst>
            </a:cu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16" name="Google Shape;1216;p63"/>
            <p:cNvSpPr/>
            <p:nvPr/>
          </p:nvSpPr>
          <p:spPr>
            <a:xfrm>
              <a:off x="2009090" y="3737977"/>
              <a:ext cx="166147" cy="268501"/>
            </a:xfrm>
            <a:custGeom>
              <a:rect b="b" l="l" r="r" t="t"/>
              <a:pathLst>
                <a:path extrusionOk="0" h="6810" w="4214">
                  <a:moveTo>
                    <a:pt x="0" y="6572"/>
                  </a:moveTo>
                  <a:lnTo>
                    <a:pt x="2381" y="6810"/>
                  </a:lnTo>
                  <a:lnTo>
                    <a:pt x="3786" y="6001"/>
                  </a:lnTo>
                  <a:lnTo>
                    <a:pt x="4214" y="452"/>
                  </a:lnTo>
                  <a:lnTo>
                    <a:pt x="1928" y="0"/>
                  </a:lnTo>
                  <a:lnTo>
                    <a:pt x="1595" y="2429"/>
                  </a:lnTo>
                  <a:close/>
                </a:path>
              </a:pathLst>
            </a:cu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17" name="Google Shape;1217;p63"/>
            <p:cNvSpPr/>
            <p:nvPr/>
          </p:nvSpPr>
          <p:spPr>
            <a:xfrm>
              <a:off x="1710620" y="3389591"/>
              <a:ext cx="605606" cy="435634"/>
            </a:xfrm>
            <a:custGeom>
              <a:rect b="b" l="l" r="r" t="t"/>
              <a:pathLst>
                <a:path extrusionOk="0" h="11049" w="15360">
                  <a:moveTo>
                    <a:pt x="0" y="1548"/>
                  </a:moveTo>
                  <a:lnTo>
                    <a:pt x="2525" y="7430"/>
                  </a:lnTo>
                  <a:lnTo>
                    <a:pt x="4263" y="8525"/>
                  </a:lnTo>
                  <a:lnTo>
                    <a:pt x="4620" y="9477"/>
                  </a:lnTo>
                  <a:lnTo>
                    <a:pt x="5882" y="10025"/>
                  </a:lnTo>
                  <a:lnTo>
                    <a:pt x="6501" y="9763"/>
                  </a:lnTo>
                  <a:lnTo>
                    <a:pt x="7716" y="10001"/>
                  </a:lnTo>
                  <a:lnTo>
                    <a:pt x="8240" y="9858"/>
                  </a:lnTo>
                  <a:lnTo>
                    <a:pt x="8454" y="10668"/>
                  </a:lnTo>
                  <a:lnTo>
                    <a:pt x="9216" y="11049"/>
                  </a:lnTo>
                  <a:lnTo>
                    <a:pt x="9859" y="10549"/>
                  </a:lnTo>
                  <a:lnTo>
                    <a:pt x="10764" y="9644"/>
                  </a:lnTo>
                  <a:lnTo>
                    <a:pt x="11978" y="9739"/>
                  </a:lnTo>
                  <a:lnTo>
                    <a:pt x="12954" y="10144"/>
                  </a:lnTo>
                  <a:lnTo>
                    <a:pt x="13812" y="9716"/>
                  </a:lnTo>
                  <a:lnTo>
                    <a:pt x="15360" y="9287"/>
                  </a:lnTo>
                  <a:lnTo>
                    <a:pt x="13621" y="7453"/>
                  </a:lnTo>
                  <a:lnTo>
                    <a:pt x="11550" y="6310"/>
                  </a:lnTo>
                  <a:lnTo>
                    <a:pt x="9930" y="5953"/>
                  </a:lnTo>
                  <a:lnTo>
                    <a:pt x="8978" y="4215"/>
                  </a:lnTo>
                  <a:lnTo>
                    <a:pt x="7882" y="3262"/>
                  </a:lnTo>
                  <a:lnTo>
                    <a:pt x="8787" y="1572"/>
                  </a:lnTo>
                  <a:lnTo>
                    <a:pt x="8525" y="357"/>
                  </a:lnTo>
                  <a:lnTo>
                    <a:pt x="7787" y="167"/>
                  </a:lnTo>
                  <a:lnTo>
                    <a:pt x="7597" y="0"/>
                  </a:lnTo>
                  <a:lnTo>
                    <a:pt x="3644" y="905"/>
                  </a:lnTo>
                  <a:close/>
                </a:path>
              </a:pathLst>
            </a:custGeom>
            <a:gradFill>
              <a:gsLst>
                <a:gs pos="0">
                  <a:srgbClr val="F4D8C9"/>
                </a:gs>
                <a:gs pos="100000">
                  <a:srgbClr val="C8B6A6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18" name="Google Shape;1218;p63"/>
            <p:cNvSpPr/>
            <p:nvPr/>
          </p:nvSpPr>
          <p:spPr>
            <a:xfrm>
              <a:off x="2039252" y="3546436"/>
              <a:ext cx="9384" cy="158696"/>
            </a:xfrm>
            <a:custGeom>
              <a:rect b="b" l="l" r="r" t="t"/>
              <a:pathLst>
                <a:path extrusionOk="0" h="4025" w="238">
                  <a:moveTo>
                    <a:pt x="238" y="0"/>
                  </a:moveTo>
                  <a:lnTo>
                    <a:pt x="0" y="4025"/>
                  </a:lnTo>
                </a:path>
              </a:pathLst>
            </a:custGeom>
            <a:solidFill>
              <a:srgbClr val="783F04"/>
            </a:solidFill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19" name="Google Shape;1219;p63"/>
            <p:cNvSpPr/>
            <p:nvPr/>
          </p:nvSpPr>
          <p:spPr>
            <a:xfrm>
              <a:off x="2015792" y="3708879"/>
              <a:ext cx="118283" cy="62887"/>
            </a:xfrm>
            <a:custGeom>
              <a:rect b="b" l="l" r="r" t="t"/>
              <a:pathLst>
                <a:path extrusionOk="0" h="1595" w="3000">
                  <a:moveTo>
                    <a:pt x="904" y="0"/>
                  </a:moveTo>
                  <a:lnTo>
                    <a:pt x="3000" y="1595"/>
                  </a:lnTo>
                  <a:lnTo>
                    <a:pt x="2071" y="1571"/>
                  </a:lnTo>
                  <a:lnTo>
                    <a:pt x="166" y="714"/>
                  </a:lnTo>
                  <a:lnTo>
                    <a:pt x="0" y="24"/>
                  </a:lnTo>
                  <a:close/>
                </a:path>
              </a:pathLst>
            </a:cu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20" name="Google Shape;1220;p63"/>
            <p:cNvSpPr/>
            <p:nvPr/>
          </p:nvSpPr>
          <p:spPr>
            <a:xfrm>
              <a:off x="2125639" y="3778351"/>
              <a:ext cx="112644" cy="47865"/>
            </a:xfrm>
            <a:custGeom>
              <a:rect b="b" l="l" r="r" t="t"/>
              <a:pathLst>
                <a:path extrusionOk="0" h="1214" w="2857">
                  <a:moveTo>
                    <a:pt x="357" y="0"/>
                  </a:moveTo>
                  <a:lnTo>
                    <a:pt x="2857" y="1072"/>
                  </a:lnTo>
                  <a:lnTo>
                    <a:pt x="2024" y="1214"/>
                  </a:lnTo>
                  <a:lnTo>
                    <a:pt x="0" y="381"/>
                  </a:lnTo>
                  <a:close/>
                </a:path>
              </a:pathLst>
            </a:cu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21" name="Google Shape;1221;p63"/>
            <p:cNvSpPr/>
            <p:nvPr/>
          </p:nvSpPr>
          <p:spPr>
            <a:xfrm>
              <a:off x="2237338" y="3778351"/>
              <a:ext cx="9384" cy="35682"/>
            </a:xfrm>
            <a:custGeom>
              <a:rect b="b" l="l" r="r" t="t"/>
              <a:pathLst>
                <a:path extrusionOk="0" h="905" w="238">
                  <a:moveTo>
                    <a:pt x="0" y="905"/>
                  </a:moveTo>
                  <a:lnTo>
                    <a:pt x="238" y="0"/>
                  </a:lnTo>
                </a:path>
              </a:pathLst>
            </a:cu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22" name="Google Shape;1222;p63"/>
            <p:cNvSpPr/>
            <p:nvPr/>
          </p:nvSpPr>
          <p:spPr>
            <a:xfrm>
              <a:off x="1953812" y="3262081"/>
              <a:ext cx="519181" cy="496037"/>
            </a:xfrm>
            <a:custGeom>
              <a:rect b="b" l="l" r="r" t="t"/>
              <a:pathLst>
                <a:path extrusionOk="0" h="12581" w="13168">
                  <a:moveTo>
                    <a:pt x="1762" y="6557"/>
                  </a:moveTo>
                  <a:lnTo>
                    <a:pt x="2762" y="7390"/>
                  </a:lnTo>
                  <a:lnTo>
                    <a:pt x="3786" y="9247"/>
                  </a:lnTo>
                  <a:lnTo>
                    <a:pt x="5572" y="9581"/>
                  </a:lnTo>
                  <a:lnTo>
                    <a:pt x="7596" y="10724"/>
                  </a:lnTo>
                  <a:lnTo>
                    <a:pt x="9215" y="12581"/>
                  </a:lnTo>
                  <a:lnTo>
                    <a:pt x="10716" y="12462"/>
                  </a:lnTo>
                  <a:lnTo>
                    <a:pt x="12001" y="11010"/>
                  </a:lnTo>
                  <a:lnTo>
                    <a:pt x="13168" y="7509"/>
                  </a:lnTo>
                  <a:lnTo>
                    <a:pt x="12859" y="3644"/>
                  </a:lnTo>
                  <a:lnTo>
                    <a:pt x="10692" y="1477"/>
                  </a:lnTo>
                  <a:lnTo>
                    <a:pt x="7263" y="48"/>
                  </a:lnTo>
                  <a:lnTo>
                    <a:pt x="5834" y="0"/>
                  </a:lnTo>
                  <a:lnTo>
                    <a:pt x="4500" y="691"/>
                  </a:lnTo>
                  <a:lnTo>
                    <a:pt x="2953" y="953"/>
                  </a:lnTo>
                  <a:lnTo>
                    <a:pt x="1357" y="2382"/>
                  </a:lnTo>
                  <a:lnTo>
                    <a:pt x="0" y="3501"/>
                  </a:lnTo>
                  <a:lnTo>
                    <a:pt x="1500" y="3215"/>
                  </a:lnTo>
                  <a:lnTo>
                    <a:pt x="2524" y="3786"/>
                  </a:lnTo>
                  <a:lnTo>
                    <a:pt x="2738" y="4810"/>
                  </a:lnTo>
                  <a:close/>
                </a:path>
              </a:pathLst>
            </a:custGeom>
            <a:gradFill>
              <a:gsLst>
                <a:gs pos="0">
                  <a:srgbClr val="B45F06"/>
                </a:gs>
                <a:gs pos="100000">
                  <a:srgbClr val="7F60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23" name="Google Shape;1223;p63"/>
            <p:cNvSpPr/>
            <p:nvPr/>
          </p:nvSpPr>
          <p:spPr>
            <a:xfrm>
              <a:off x="1832689" y="3237675"/>
              <a:ext cx="349249" cy="184954"/>
            </a:xfrm>
            <a:custGeom>
              <a:rect b="b" l="l" r="r" t="t"/>
              <a:pathLst>
                <a:path extrusionOk="0" h="4691" w="8858">
                  <a:moveTo>
                    <a:pt x="8858" y="619"/>
                  </a:moveTo>
                  <a:lnTo>
                    <a:pt x="8144" y="0"/>
                  </a:lnTo>
                  <a:lnTo>
                    <a:pt x="5382" y="738"/>
                  </a:lnTo>
                  <a:lnTo>
                    <a:pt x="2429" y="1619"/>
                  </a:lnTo>
                  <a:lnTo>
                    <a:pt x="453" y="2715"/>
                  </a:lnTo>
                  <a:lnTo>
                    <a:pt x="0" y="4691"/>
                  </a:lnTo>
                  <a:lnTo>
                    <a:pt x="3000" y="4072"/>
                  </a:lnTo>
                  <a:lnTo>
                    <a:pt x="6168" y="1453"/>
                  </a:lnTo>
                  <a:lnTo>
                    <a:pt x="7739" y="1286"/>
                  </a:lnTo>
                  <a:close/>
                </a:path>
              </a:pathLst>
            </a:custGeom>
            <a:gradFill>
              <a:gsLst>
                <a:gs pos="0">
                  <a:srgbClr val="B45F06"/>
                </a:gs>
                <a:gs pos="100000">
                  <a:srgbClr val="7F60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24" name="Google Shape;1224;p63"/>
            <p:cNvSpPr/>
            <p:nvPr/>
          </p:nvSpPr>
          <p:spPr>
            <a:xfrm>
              <a:off x="2083372" y="3650210"/>
              <a:ext cx="66672" cy="108938"/>
            </a:xfrm>
            <a:custGeom>
              <a:rect b="b" l="l" r="r" t="t"/>
              <a:pathLst>
                <a:path extrusionOk="0" h="2763" w="1691">
                  <a:moveTo>
                    <a:pt x="0" y="0"/>
                  </a:moveTo>
                  <a:lnTo>
                    <a:pt x="1238" y="2620"/>
                  </a:lnTo>
                  <a:lnTo>
                    <a:pt x="1691" y="2763"/>
                  </a:lnTo>
                  <a:lnTo>
                    <a:pt x="1167" y="1715"/>
                  </a:lnTo>
                  <a:close/>
                </a:path>
              </a:pathLst>
            </a:custGeom>
            <a:noFill/>
            <a:ln cap="flat" cmpd="sng" w="9525">
              <a:solidFill>
                <a:srgbClr val="783F0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25" name="Google Shape;1225;p63"/>
            <p:cNvSpPr/>
            <p:nvPr/>
          </p:nvSpPr>
          <p:spPr>
            <a:xfrm>
              <a:off x="1891791" y="3997098"/>
              <a:ext cx="147380" cy="170879"/>
            </a:xfrm>
            <a:custGeom>
              <a:rect b="b" l="l" r="r" t="t"/>
              <a:pathLst>
                <a:path extrusionOk="0" h="4334" w="3738">
                  <a:moveTo>
                    <a:pt x="3738" y="143"/>
                  </a:moveTo>
                  <a:lnTo>
                    <a:pt x="2548" y="3810"/>
                  </a:lnTo>
                  <a:lnTo>
                    <a:pt x="2619" y="4334"/>
                  </a:lnTo>
                  <a:lnTo>
                    <a:pt x="1214" y="3834"/>
                  </a:lnTo>
                  <a:lnTo>
                    <a:pt x="428" y="4072"/>
                  </a:lnTo>
                  <a:lnTo>
                    <a:pt x="0" y="3715"/>
                  </a:lnTo>
                  <a:lnTo>
                    <a:pt x="1381" y="2501"/>
                  </a:lnTo>
                  <a:lnTo>
                    <a:pt x="2786" y="0"/>
                  </a:lnTo>
                  <a:close/>
                </a:path>
              </a:pathLst>
            </a:custGeom>
            <a:gradFill>
              <a:gsLst>
                <a:gs pos="0">
                  <a:srgbClr val="F4D8C9"/>
                </a:gs>
                <a:gs pos="100000">
                  <a:srgbClr val="C8B6A6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26" name="Google Shape;1226;p63"/>
            <p:cNvSpPr/>
            <p:nvPr/>
          </p:nvSpPr>
          <p:spPr>
            <a:xfrm>
              <a:off x="1811989" y="4150355"/>
              <a:ext cx="241257" cy="100422"/>
            </a:xfrm>
            <a:custGeom>
              <a:rect b="b" l="l" r="r" t="t"/>
              <a:pathLst>
                <a:path extrusionOk="0" h="2547" w="6119">
                  <a:moveTo>
                    <a:pt x="1976" y="0"/>
                  </a:moveTo>
                  <a:lnTo>
                    <a:pt x="0" y="1452"/>
                  </a:lnTo>
                  <a:lnTo>
                    <a:pt x="309" y="2547"/>
                  </a:lnTo>
                  <a:lnTo>
                    <a:pt x="1952" y="2333"/>
                  </a:lnTo>
                  <a:lnTo>
                    <a:pt x="2333" y="1119"/>
                  </a:lnTo>
                  <a:lnTo>
                    <a:pt x="2762" y="2119"/>
                  </a:lnTo>
                  <a:lnTo>
                    <a:pt x="3786" y="1833"/>
                  </a:lnTo>
                  <a:lnTo>
                    <a:pt x="6119" y="2095"/>
                  </a:lnTo>
                  <a:lnTo>
                    <a:pt x="4905" y="500"/>
                  </a:lnTo>
                  <a:lnTo>
                    <a:pt x="3429" y="0"/>
                  </a:lnTo>
                  <a:close/>
                </a:path>
              </a:pathLst>
            </a:custGeom>
            <a:gradFill>
              <a:gsLst>
                <a:gs pos="0">
                  <a:srgbClr val="F4D8C9"/>
                </a:gs>
                <a:gs pos="100000">
                  <a:srgbClr val="C8B6A6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27" name="Google Shape;1227;p63"/>
            <p:cNvSpPr/>
            <p:nvPr/>
          </p:nvSpPr>
          <p:spPr>
            <a:xfrm>
              <a:off x="1820190" y="4105761"/>
              <a:ext cx="277875" cy="273231"/>
            </a:xfrm>
            <a:custGeom>
              <a:rect b="b" l="l" r="r" t="t"/>
              <a:pathLst>
                <a:path extrusionOk="0" h="5322" w="5334">
                  <a:moveTo>
                    <a:pt x="5334" y="4751"/>
                  </a:moveTo>
                  <a:lnTo>
                    <a:pt x="554" y="0"/>
                  </a:lnTo>
                  <a:lnTo>
                    <a:pt x="0" y="476"/>
                  </a:lnTo>
                  <a:lnTo>
                    <a:pt x="5310" y="5322"/>
                  </a:lnTo>
                  <a:close/>
                </a:path>
              </a:pathLst>
            </a:custGeom>
            <a:gradFill>
              <a:gsLst>
                <a:gs pos="0">
                  <a:srgbClr val="2297E6"/>
                </a:gs>
                <a:gs pos="100000">
                  <a:srgbClr val="B5C0D9"/>
                </a:gs>
              </a:gsLst>
              <a:lin ang="5400012" scaled="0"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28" name="Google Shape;1228;p63"/>
            <p:cNvSpPr/>
            <p:nvPr/>
          </p:nvSpPr>
          <p:spPr>
            <a:xfrm>
              <a:off x="1146050" y="4040035"/>
              <a:ext cx="931356" cy="381185"/>
            </a:xfrm>
            <a:custGeom>
              <a:rect b="b" l="l" r="r" t="t"/>
              <a:pathLst>
                <a:path extrusionOk="0" h="9668" w="23622">
                  <a:moveTo>
                    <a:pt x="691" y="0"/>
                  </a:moveTo>
                  <a:lnTo>
                    <a:pt x="6430" y="3525"/>
                  </a:lnTo>
                  <a:lnTo>
                    <a:pt x="3072" y="4810"/>
                  </a:lnTo>
                  <a:lnTo>
                    <a:pt x="6644" y="3525"/>
                  </a:lnTo>
                  <a:lnTo>
                    <a:pt x="17050" y="5525"/>
                  </a:lnTo>
                  <a:lnTo>
                    <a:pt x="19788" y="4668"/>
                  </a:lnTo>
                  <a:lnTo>
                    <a:pt x="23408" y="5025"/>
                  </a:lnTo>
                  <a:lnTo>
                    <a:pt x="23551" y="5858"/>
                  </a:lnTo>
                  <a:lnTo>
                    <a:pt x="22836" y="6311"/>
                  </a:lnTo>
                  <a:lnTo>
                    <a:pt x="23622" y="6763"/>
                  </a:lnTo>
                  <a:lnTo>
                    <a:pt x="23170" y="7668"/>
                  </a:lnTo>
                  <a:lnTo>
                    <a:pt x="22741" y="7787"/>
                  </a:lnTo>
                  <a:lnTo>
                    <a:pt x="23051" y="8287"/>
                  </a:lnTo>
                  <a:lnTo>
                    <a:pt x="22598" y="8692"/>
                  </a:lnTo>
                  <a:lnTo>
                    <a:pt x="21193" y="8740"/>
                  </a:lnTo>
                  <a:lnTo>
                    <a:pt x="21765" y="8716"/>
                  </a:lnTo>
                  <a:lnTo>
                    <a:pt x="20908" y="9478"/>
                  </a:lnTo>
                  <a:lnTo>
                    <a:pt x="18931" y="9668"/>
                  </a:lnTo>
                  <a:lnTo>
                    <a:pt x="16121" y="8954"/>
                  </a:lnTo>
                  <a:lnTo>
                    <a:pt x="11264" y="8954"/>
                  </a:lnTo>
                  <a:lnTo>
                    <a:pt x="6549" y="8716"/>
                  </a:lnTo>
                  <a:lnTo>
                    <a:pt x="1119" y="7168"/>
                  </a:lnTo>
                  <a:lnTo>
                    <a:pt x="0" y="4810"/>
                  </a:lnTo>
                  <a:close/>
                </a:path>
              </a:pathLst>
            </a:custGeom>
            <a:gradFill>
              <a:gsLst>
                <a:gs pos="0">
                  <a:srgbClr val="F4D8C9"/>
                </a:gs>
                <a:gs pos="100000">
                  <a:srgbClr val="C8B6A6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29" name="Google Shape;1229;p63"/>
            <p:cNvSpPr/>
            <p:nvPr/>
          </p:nvSpPr>
          <p:spPr>
            <a:xfrm>
              <a:off x="1146247" y="3600018"/>
              <a:ext cx="422505" cy="583290"/>
            </a:xfrm>
            <a:custGeom>
              <a:rect b="b" l="l" r="r" t="t"/>
              <a:pathLst>
                <a:path extrusionOk="0" h="14794" w="10716">
                  <a:moveTo>
                    <a:pt x="4215" y="473"/>
                  </a:moveTo>
                  <a:lnTo>
                    <a:pt x="0" y="10889"/>
                  </a:lnTo>
                  <a:lnTo>
                    <a:pt x="738" y="11222"/>
                  </a:lnTo>
                  <a:lnTo>
                    <a:pt x="6477" y="14794"/>
                  </a:lnTo>
                  <a:lnTo>
                    <a:pt x="7144" y="14461"/>
                  </a:lnTo>
                  <a:lnTo>
                    <a:pt x="7977" y="12675"/>
                  </a:lnTo>
                  <a:lnTo>
                    <a:pt x="9620" y="12032"/>
                  </a:lnTo>
                  <a:lnTo>
                    <a:pt x="10716" y="4763"/>
                  </a:lnTo>
                  <a:lnTo>
                    <a:pt x="8953" y="2096"/>
                  </a:lnTo>
                  <a:lnTo>
                    <a:pt x="6310" y="0"/>
                  </a:lnTo>
                  <a:close/>
                </a:path>
              </a:pathLst>
            </a:cu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1230" name="Google Shape;1230;p63"/>
          <p:cNvGrpSpPr/>
          <p:nvPr/>
        </p:nvGrpSpPr>
        <p:grpSpPr>
          <a:xfrm>
            <a:off x="455615" y="2877426"/>
            <a:ext cx="1326931" cy="988859"/>
            <a:chOff x="5243875" y="3295550"/>
            <a:chExt cx="826800" cy="616150"/>
          </a:xfrm>
        </p:grpSpPr>
        <p:sp>
          <p:nvSpPr>
            <p:cNvPr id="1231" name="Google Shape;1231;p63"/>
            <p:cNvSpPr/>
            <p:nvPr/>
          </p:nvSpPr>
          <p:spPr>
            <a:xfrm>
              <a:off x="5325625" y="3295550"/>
              <a:ext cx="663300" cy="435600"/>
            </a:xfrm>
            <a:prstGeom prst="round2SameRect">
              <a:avLst>
                <a:gd fmla="val 4907" name="adj1"/>
                <a:gd fmla="val 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63"/>
            <p:cNvSpPr/>
            <p:nvPr/>
          </p:nvSpPr>
          <p:spPr>
            <a:xfrm flipH="1" rot="10800000">
              <a:off x="5243875" y="3875400"/>
              <a:ext cx="826800" cy="36300"/>
            </a:xfrm>
            <a:prstGeom prst="round2SameRect">
              <a:avLst>
                <a:gd fmla="val 16667" name="adj1"/>
                <a:gd fmla="val 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63"/>
            <p:cNvSpPr/>
            <p:nvPr/>
          </p:nvSpPr>
          <p:spPr>
            <a:xfrm>
              <a:off x="5244925" y="3731275"/>
              <a:ext cx="824700" cy="144000"/>
            </a:xfrm>
            <a:prstGeom prst="trapezoid">
              <a:avLst>
                <a:gd fmla="val 58090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63"/>
            <p:cNvSpPr/>
            <p:nvPr/>
          </p:nvSpPr>
          <p:spPr>
            <a:xfrm>
              <a:off x="5378100" y="3341700"/>
              <a:ext cx="546600" cy="346800"/>
            </a:xfrm>
            <a:prstGeom prst="rect">
              <a:avLst/>
            </a:prstGeom>
            <a:gradFill>
              <a:gsLst>
                <a:gs pos="0">
                  <a:srgbClr val="8C8C8C"/>
                </a:gs>
                <a:gs pos="100000">
                  <a:srgbClr val="40404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63"/>
            <p:cNvSpPr/>
            <p:nvPr/>
          </p:nvSpPr>
          <p:spPr>
            <a:xfrm>
              <a:off x="5353725" y="37507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63"/>
            <p:cNvSpPr/>
            <p:nvPr/>
          </p:nvSpPr>
          <p:spPr>
            <a:xfrm>
              <a:off x="5423375" y="37507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63"/>
            <p:cNvSpPr/>
            <p:nvPr/>
          </p:nvSpPr>
          <p:spPr>
            <a:xfrm>
              <a:off x="5488275" y="37507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63"/>
            <p:cNvSpPr/>
            <p:nvPr/>
          </p:nvSpPr>
          <p:spPr>
            <a:xfrm>
              <a:off x="5556150" y="37507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63"/>
            <p:cNvSpPr/>
            <p:nvPr/>
          </p:nvSpPr>
          <p:spPr>
            <a:xfrm>
              <a:off x="5344200" y="3768625"/>
              <a:ext cx="750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63"/>
            <p:cNvSpPr/>
            <p:nvPr/>
          </p:nvSpPr>
          <p:spPr>
            <a:xfrm>
              <a:off x="5423049" y="3768625"/>
              <a:ext cx="651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63"/>
            <p:cNvSpPr/>
            <p:nvPr/>
          </p:nvSpPr>
          <p:spPr>
            <a:xfrm>
              <a:off x="5496523" y="3768625"/>
              <a:ext cx="651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63"/>
            <p:cNvSpPr/>
            <p:nvPr/>
          </p:nvSpPr>
          <p:spPr>
            <a:xfrm>
              <a:off x="5573385" y="3768625"/>
              <a:ext cx="555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63"/>
            <p:cNvSpPr/>
            <p:nvPr/>
          </p:nvSpPr>
          <p:spPr>
            <a:xfrm>
              <a:off x="5335875" y="3786475"/>
              <a:ext cx="936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63"/>
            <p:cNvSpPr/>
            <p:nvPr/>
          </p:nvSpPr>
          <p:spPr>
            <a:xfrm>
              <a:off x="5445065" y="3786475"/>
              <a:ext cx="627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63"/>
            <p:cNvSpPr/>
            <p:nvPr/>
          </p:nvSpPr>
          <p:spPr>
            <a:xfrm>
              <a:off x="5531252" y="3786475"/>
              <a:ext cx="627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63"/>
            <p:cNvSpPr/>
            <p:nvPr/>
          </p:nvSpPr>
          <p:spPr>
            <a:xfrm>
              <a:off x="5325625" y="3804325"/>
              <a:ext cx="1344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63"/>
            <p:cNvSpPr/>
            <p:nvPr/>
          </p:nvSpPr>
          <p:spPr>
            <a:xfrm flipH="1" rot="10800000">
              <a:off x="5693130" y="378647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63"/>
            <p:cNvSpPr/>
            <p:nvPr/>
          </p:nvSpPr>
          <p:spPr>
            <a:xfrm flipH="1" rot="10800000">
              <a:off x="5855005" y="380432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63"/>
            <p:cNvSpPr/>
            <p:nvPr/>
          </p:nvSpPr>
          <p:spPr>
            <a:xfrm flipH="1" rot="10800000">
              <a:off x="5940030" y="3804325"/>
              <a:ext cx="489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63"/>
            <p:cNvSpPr/>
            <p:nvPr/>
          </p:nvSpPr>
          <p:spPr>
            <a:xfrm flipH="1" rot="10800000">
              <a:off x="5681494" y="3750775"/>
              <a:ext cx="1182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63"/>
            <p:cNvSpPr/>
            <p:nvPr/>
          </p:nvSpPr>
          <p:spPr>
            <a:xfrm flipH="1" rot="10800000">
              <a:off x="5760674" y="3786475"/>
              <a:ext cx="720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63"/>
            <p:cNvSpPr/>
            <p:nvPr/>
          </p:nvSpPr>
          <p:spPr>
            <a:xfrm flipH="1" rot="10800000">
              <a:off x="5841208" y="3786475"/>
              <a:ext cx="651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63"/>
            <p:cNvSpPr/>
            <p:nvPr/>
          </p:nvSpPr>
          <p:spPr>
            <a:xfrm flipH="1" rot="10800000">
              <a:off x="5918071" y="3786475"/>
              <a:ext cx="555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63"/>
            <p:cNvSpPr/>
            <p:nvPr/>
          </p:nvSpPr>
          <p:spPr>
            <a:xfrm flipH="1" rot="10800000">
              <a:off x="5705322" y="3768625"/>
              <a:ext cx="1218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63"/>
            <p:cNvSpPr/>
            <p:nvPr/>
          </p:nvSpPr>
          <p:spPr>
            <a:xfrm flipH="1" rot="10800000">
              <a:off x="5832826" y="3768625"/>
              <a:ext cx="627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63"/>
            <p:cNvSpPr/>
            <p:nvPr/>
          </p:nvSpPr>
          <p:spPr>
            <a:xfrm flipH="1" rot="10800000">
              <a:off x="5903912" y="3768625"/>
              <a:ext cx="627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63"/>
            <p:cNvSpPr/>
            <p:nvPr/>
          </p:nvSpPr>
          <p:spPr>
            <a:xfrm flipH="1" rot="10800000">
              <a:off x="5821536" y="3750775"/>
              <a:ext cx="134400" cy="12600"/>
            </a:xfrm>
            <a:prstGeom prst="parallelogram">
              <a:avLst>
                <a:gd fmla="val 66071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63"/>
            <p:cNvSpPr/>
            <p:nvPr/>
          </p:nvSpPr>
          <p:spPr>
            <a:xfrm>
              <a:off x="5619600" y="3751075"/>
              <a:ext cx="41700" cy="12600"/>
            </a:xfrm>
            <a:prstGeom prst="trapezoid">
              <a:avLst>
                <a:gd fmla="val 25000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63"/>
            <p:cNvSpPr/>
            <p:nvPr/>
          </p:nvSpPr>
          <p:spPr>
            <a:xfrm>
              <a:off x="5646250" y="3768625"/>
              <a:ext cx="41700" cy="12600"/>
            </a:xfrm>
            <a:prstGeom prst="trapezoid">
              <a:avLst>
                <a:gd fmla="val 25000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63"/>
            <p:cNvSpPr/>
            <p:nvPr/>
          </p:nvSpPr>
          <p:spPr>
            <a:xfrm>
              <a:off x="5613375" y="3786175"/>
              <a:ext cx="41700" cy="12600"/>
            </a:xfrm>
            <a:prstGeom prst="trapezoid">
              <a:avLst>
                <a:gd fmla="val 25000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63"/>
            <p:cNvSpPr/>
            <p:nvPr/>
          </p:nvSpPr>
          <p:spPr>
            <a:xfrm>
              <a:off x="5508225" y="3804325"/>
              <a:ext cx="297000" cy="12600"/>
            </a:xfrm>
            <a:prstGeom prst="trapezoid">
              <a:avLst>
                <a:gd fmla="val 75992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63"/>
            <p:cNvSpPr/>
            <p:nvPr/>
          </p:nvSpPr>
          <p:spPr>
            <a:xfrm>
              <a:off x="5502900" y="3822175"/>
              <a:ext cx="306600" cy="24000"/>
            </a:xfrm>
            <a:prstGeom prst="trapezoid">
              <a:avLst>
                <a:gd fmla="val 49687" name="adj"/>
              </a:avLst>
            </a:prstGeom>
            <a:gradFill>
              <a:gsLst>
                <a:gs pos="0">
                  <a:srgbClr val="BFBFBF"/>
                </a:gs>
                <a:gs pos="100000">
                  <a:srgbClr val="73737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3" name="Google Shape;1263;p63"/>
          <p:cNvGrpSpPr/>
          <p:nvPr/>
        </p:nvGrpSpPr>
        <p:grpSpPr>
          <a:xfrm flipH="1">
            <a:off x="1906906" y="1503267"/>
            <a:ext cx="1214200" cy="536775"/>
            <a:chOff x="219400" y="3500167"/>
            <a:chExt cx="1214200" cy="536775"/>
          </a:xfrm>
        </p:grpSpPr>
        <p:pic>
          <p:nvPicPr>
            <p:cNvPr id="1264" name="Google Shape;1264;p63"/>
            <p:cNvPicPr preferRelativeResize="0"/>
            <p:nvPr/>
          </p:nvPicPr>
          <p:blipFill rotWithShape="1">
            <a:blip r:embed="rId3">
              <a:alphaModFix/>
            </a:blip>
            <a:srcRect b="30135" l="34329" r="44454" t="45477"/>
            <a:stretch/>
          </p:blipFill>
          <p:spPr>
            <a:xfrm>
              <a:off x="219400" y="3500167"/>
              <a:ext cx="1214200" cy="53677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265" name="Google Shape;1265;p63"/>
            <p:cNvSpPr/>
            <p:nvPr/>
          </p:nvSpPr>
          <p:spPr>
            <a:xfrm>
              <a:off x="260873" y="3838869"/>
              <a:ext cx="263700" cy="828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63"/>
            <p:cNvSpPr/>
            <p:nvPr/>
          </p:nvSpPr>
          <p:spPr>
            <a:xfrm>
              <a:off x="538161" y="3774940"/>
              <a:ext cx="243900" cy="1821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63"/>
            <p:cNvSpPr/>
            <p:nvPr/>
          </p:nvSpPr>
          <p:spPr>
            <a:xfrm>
              <a:off x="789974" y="3548822"/>
              <a:ext cx="176700" cy="2253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63"/>
            <p:cNvSpPr/>
            <p:nvPr/>
          </p:nvSpPr>
          <p:spPr>
            <a:xfrm>
              <a:off x="978952" y="3592809"/>
              <a:ext cx="171000" cy="1470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63"/>
            <p:cNvSpPr/>
            <p:nvPr/>
          </p:nvSpPr>
          <p:spPr>
            <a:xfrm>
              <a:off x="1149900" y="3859496"/>
              <a:ext cx="243900" cy="1086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0" name="Google Shape;1270;p63"/>
          <p:cNvGrpSpPr/>
          <p:nvPr/>
        </p:nvGrpSpPr>
        <p:grpSpPr>
          <a:xfrm flipH="1">
            <a:off x="1906906" y="3103467"/>
            <a:ext cx="1214200" cy="536775"/>
            <a:chOff x="219400" y="3500167"/>
            <a:chExt cx="1214200" cy="536775"/>
          </a:xfrm>
        </p:grpSpPr>
        <p:pic>
          <p:nvPicPr>
            <p:cNvPr id="1271" name="Google Shape;1271;p63"/>
            <p:cNvPicPr preferRelativeResize="0"/>
            <p:nvPr/>
          </p:nvPicPr>
          <p:blipFill rotWithShape="1">
            <a:blip r:embed="rId3">
              <a:alphaModFix/>
            </a:blip>
            <a:srcRect b="30135" l="34329" r="44454" t="45477"/>
            <a:stretch/>
          </p:blipFill>
          <p:spPr>
            <a:xfrm>
              <a:off x="219400" y="3500167"/>
              <a:ext cx="1214200" cy="53677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272" name="Google Shape;1272;p63"/>
            <p:cNvSpPr/>
            <p:nvPr/>
          </p:nvSpPr>
          <p:spPr>
            <a:xfrm>
              <a:off x="260873" y="3838869"/>
              <a:ext cx="263700" cy="828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63"/>
            <p:cNvSpPr/>
            <p:nvPr/>
          </p:nvSpPr>
          <p:spPr>
            <a:xfrm>
              <a:off x="538161" y="3774940"/>
              <a:ext cx="243900" cy="1821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63"/>
            <p:cNvSpPr/>
            <p:nvPr/>
          </p:nvSpPr>
          <p:spPr>
            <a:xfrm>
              <a:off x="789974" y="3548822"/>
              <a:ext cx="176700" cy="2253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63"/>
            <p:cNvSpPr/>
            <p:nvPr/>
          </p:nvSpPr>
          <p:spPr>
            <a:xfrm>
              <a:off x="978952" y="3592809"/>
              <a:ext cx="171000" cy="1470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63"/>
            <p:cNvSpPr/>
            <p:nvPr/>
          </p:nvSpPr>
          <p:spPr>
            <a:xfrm>
              <a:off x="1149900" y="3859496"/>
              <a:ext cx="243900" cy="108600"/>
            </a:xfrm>
            <a:prstGeom prst="rect">
              <a:avLst/>
            </a:prstGeom>
            <a:noFill/>
            <a:ln cap="flat" cmpd="sng" w="9525">
              <a:solidFill>
                <a:srgbClr val="2297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77" name="Google Shape;1277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96" y="799513"/>
            <a:ext cx="1095907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598" y="2399973"/>
            <a:ext cx="670103" cy="988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9" name="Google Shape;1279;p63"/>
          <p:cNvGrpSpPr/>
          <p:nvPr/>
        </p:nvGrpSpPr>
        <p:grpSpPr>
          <a:xfrm>
            <a:off x="3245462" y="2668663"/>
            <a:ext cx="5442874" cy="1406400"/>
            <a:chOff x="3678525" y="961550"/>
            <a:chExt cx="5081100" cy="1406400"/>
          </a:xfrm>
        </p:grpSpPr>
        <p:sp>
          <p:nvSpPr>
            <p:cNvPr id="1280" name="Google Shape;1280;p63"/>
            <p:cNvSpPr txBox="1"/>
            <p:nvPr/>
          </p:nvSpPr>
          <p:spPr>
            <a:xfrm>
              <a:off x="3678525" y="961550"/>
              <a:ext cx="5081100" cy="7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Automatic labeling: 		0.03 seconds / syllable</a:t>
              </a:r>
              <a:endParaRPr b="0" i="0" sz="2000" u="none" cap="none" strike="noStrike">
                <a:solidFill>
                  <a:srgbClr val="BB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63"/>
            <p:cNvSpPr txBox="1"/>
            <p:nvPr/>
          </p:nvSpPr>
          <p:spPr>
            <a:xfrm>
              <a:off x="3678525" y="1647350"/>
              <a:ext cx="5081100" cy="7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Our Dataset:			4 hours (+8 to train)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All birds:				6 weeks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2" name="Google Shape;1282;p63"/>
          <p:cNvGrpSpPr/>
          <p:nvPr/>
        </p:nvGrpSpPr>
        <p:grpSpPr>
          <a:xfrm>
            <a:off x="3245514" y="1068450"/>
            <a:ext cx="5442873" cy="1406400"/>
            <a:chOff x="3678525" y="961554"/>
            <a:chExt cx="4902606" cy="1406400"/>
          </a:xfrm>
        </p:grpSpPr>
        <p:sp>
          <p:nvSpPr>
            <p:cNvPr id="1283" name="Google Shape;1283;p63"/>
            <p:cNvSpPr txBox="1"/>
            <p:nvPr/>
          </p:nvSpPr>
          <p:spPr>
            <a:xfrm>
              <a:off x="3678531" y="961554"/>
              <a:ext cx="4902600" cy="7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Manual labeling: 		4 seconds / syllable</a:t>
              </a:r>
              <a:endParaRPr b="0" i="0" sz="2000" u="none" cap="none" strike="noStrike">
                <a:solidFill>
                  <a:srgbClr val="BB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63"/>
            <p:cNvSpPr txBox="1"/>
            <p:nvPr/>
          </p:nvSpPr>
          <p:spPr>
            <a:xfrm>
              <a:off x="3678525" y="1647354"/>
              <a:ext cx="4576800" cy="7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Our Dataset:			570 hours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All birds: 				15+ years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5" name="Google Shape;1285;p63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Provost, Yang*, Carstens 2022, </a:t>
            </a:r>
            <a:r>
              <a:rPr i="1" lang="en-US" sz="1400">
                <a:solidFill>
                  <a:srgbClr val="000000"/>
                </a:solidFill>
              </a:rPr>
              <a:t>PLOS ONE</a:t>
            </a:r>
            <a:r>
              <a:rPr lang="en-US" sz="1400"/>
              <a:t>; Cohen et al. 2022, </a:t>
            </a:r>
            <a:r>
              <a:rPr i="1" lang="en-US" sz="1400"/>
              <a:t>eLife</a:t>
            </a:r>
            <a:endParaRPr sz="1400"/>
          </a:p>
        </p:txBody>
      </p:sp>
      <p:sp>
        <p:nvSpPr>
          <p:cNvPr id="1286" name="Google Shape;1286;p6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Automatic labeling is extremely efficient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1" name="Google Shape;1291;p64"/>
          <p:cNvCxnSpPr/>
          <p:nvPr/>
        </p:nvCxnSpPr>
        <p:spPr>
          <a:xfrm>
            <a:off x="1025201" y="1097403"/>
            <a:ext cx="4319700" cy="1286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2" name="Google Shape;1292;p64"/>
          <p:cNvSpPr/>
          <p:nvPr/>
        </p:nvSpPr>
        <p:spPr>
          <a:xfrm>
            <a:off x="1035423" y="856186"/>
            <a:ext cx="4314600" cy="305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64"/>
          <p:cNvSpPr txBox="1"/>
          <p:nvPr/>
        </p:nvSpPr>
        <p:spPr>
          <a:xfrm>
            <a:off x="404026" y="789450"/>
            <a:ext cx="5421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4" name="Google Shape;1294;p64"/>
          <p:cNvCxnSpPr/>
          <p:nvPr/>
        </p:nvCxnSpPr>
        <p:spPr>
          <a:xfrm>
            <a:off x="946090" y="864239"/>
            <a:ext cx="7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5" name="Google Shape;1295;p64"/>
          <p:cNvSpPr txBox="1"/>
          <p:nvPr/>
        </p:nvSpPr>
        <p:spPr>
          <a:xfrm>
            <a:off x="493420" y="1981015"/>
            <a:ext cx="4527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6" name="Google Shape;1296;p64"/>
          <p:cNvCxnSpPr/>
          <p:nvPr/>
        </p:nvCxnSpPr>
        <p:spPr>
          <a:xfrm>
            <a:off x="946090" y="2056280"/>
            <a:ext cx="7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7" name="Google Shape;1297;p64"/>
          <p:cNvSpPr txBox="1"/>
          <p:nvPr/>
        </p:nvSpPr>
        <p:spPr>
          <a:xfrm>
            <a:off x="493420" y="2576794"/>
            <a:ext cx="4527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8" name="Google Shape;1298;p64"/>
          <p:cNvCxnSpPr/>
          <p:nvPr/>
        </p:nvCxnSpPr>
        <p:spPr>
          <a:xfrm>
            <a:off x="946090" y="2652535"/>
            <a:ext cx="7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9" name="Google Shape;1299;p64"/>
          <p:cNvSpPr txBox="1"/>
          <p:nvPr/>
        </p:nvSpPr>
        <p:spPr>
          <a:xfrm>
            <a:off x="493420" y="3170383"/>
            <a:ext cx="4527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0" name="Google Shape;1300;p64"/>
          <p:cNvCxnSpPr/>
          <p:nvPr/>
        </p:nvCxnSpPr>
        <p:spPr>
          <a:xfrm>
            <a:off x="946090" y="3246600"/>
            <a:ext cx="7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1" name="Google Shape;1301;p64"/>
          <p:cNvSpPr txBox="1"/>
          <p:nvPr/>
        </p:nvSpPr>
        <p:spPr>
          <a:xfrm>
            <a:off x="493420" y="3763972"/>
            <a:ext cx="4527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2" name="Google Shape;1302;p64"/>
          <p:cNvCxnSpPr/>
          <p:nvPr/>
        </p:nvCxnSpPr>
        <p:spPr>
          <a:xfrm>
            <a:off x="946090" y="3840665"/>
            <a:ext cx="7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3" name="Google Shape;1303;p64"/>
          <p:cNvSpPr txBox="1"/>
          <p:nvPr/>
        </p:nvSpPr>
        <p:spPr>
          <a:xfrm>
            <a:off x="0" y="2264075"/>
            <a:ext cx="10149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64"/>
          <p:cNvSpPr txBox="1"/>
          <p:nvPr/>
        </p:nvSpPr>
        <p:spPr>
          <a:xfrm>
            <a:off x="1020245" y="3994721"/>
            <a:ext cx="326700" cy="1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64"/>
          <p:cNvSpPr txBox="1"/>
          <p:nvPr/>
        </p:nvSpPr>
        <p:spPr>
          <a:xfrm>
            <a:off x="1959100" y="3994721"/>
            <a:ext cx="326700" cy="1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64"/>
          <p:cNvSpPr txBox="1"/>
          <p:nvPr/>
        </p:nvSpPr>
        <p:spPr>
          <a:xfrm>
            <a:off x="2897955" y="3994721"/>
            <a:ext cx="326700" cy="1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64"/>
          <p:cNvSpPr txBox="1"/>
          <p:nvPr/>
        </p:nvSpPr>
        <p:spPr>
          <a:xfrm>
            <a:off x="3836811" y="3994721"/>
            <a:ext cx="326700" cy="1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64"/>
          <p:cNvSpPr txBox="1"/>
          <p:nvPr/>
        </p:nvSpPr>
        <p:spPr>
          <a:xfrm>
            <a:off x="4775666" y="3994721"/>
            <a:ext cx="326700" cy="1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9" name="Google Shape;1309;p64"/>
          <p:cNvCxnSpPr/>
          <p:nvPr/>
        </p:nvCxnSpPr>
        <p:spPr>
          <a:xfrm rot="10800000">
            <a:off x="1183604" y="3923321"/>
            <a:ext cx="0" cy="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0" name="Google Shape;1310;p64"/>
          <p:cNvCxnSpPr/>
          <p:nvPr/>
        </p:nvCxnSpPr>
        <p:spPr>
          <a:xfrm rot="10800000">
            <a:off x="2122460" y="3923321"/>
            <a:ext cx="0" cy="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1" name="Google Shape;1311;p64"/>
          <p:cNvCxnSpPr/>
          <p:nvPr/>
        </p:nvCxnSpPr>
        <p:spPr>
          <a:xfrm rot="10800000">
            <a:off x="3061315" y="3911321"/>
            <a:ext cx="0" cy="8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2" name="Google Shape;1312;p64"/>
          <p:cNvCxnSpPr/>
          <p:nvPr/>
        </p:nvCxnSpPr>
        <p:spPr>
          <a:xfrm rot="10800000">
            <a:off x="4000170" y="3917321"/>
            <a:ext cx="0" cy="7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3" name="Google Shape;1313;p64"/>
          <p:cNvCxnSpPr/>
          <p:nvPr/>
        </p:nvCxnSpPr>
        <p:spPr>
          <a:xfrm rot="10800000">
            <a:off x="4939026" y="3923321"/>
            <a:ext cx="0" cy="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4" name="Google Shape;1314;p64"/>
          <p:cNvSpPr txBox="1"/>
          <p:nvPr/>
        </p:nvSpPr>
        <p:spPr>
          <a:xfrm>
            <a:off x="1048820" y="4180630"/>
            <a:ext cx="43146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Estimated Divergence (mya)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64"/>
          <p:cNvSpPr txBox="1"/>
          <p:nvPr/>
        </p:nvSpPr>
        <p:spPr>
          <a:xfrm>
            <a:off x="493420" y="1385230"/>
            <a:ext cx="4527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6" name="Google Shape;1316;p64"/>
          <p:cNvCxnSpPr/>
          <p:nvPr/>
        </p:nvCxnSpPr>
        <p:spPr>
          <a:xfrm>
            <a:off x="946090" y="1460019"/>
            <a:ext cx="7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7" name="Google Shape;1317;p64"/>
          <p:cNvSpPr/>
          <p:nvPr/>
        </p:nvSpPr>
        <p:spPr>
          <a:xfrm>
            <a:off x="1167147" y="947318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64"/>
          <p:cNvSpPr/>
          <p:nvPr/>
        </p:nvSpPr>
        <p:spPr>
          <a:xfrm>
            <a:off x="1167147" y="1014746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64"/>
          <p:cNvSpPr/>
          <p:nvPr/>
        </p:nvSpPr>
        <p:spPr>
          <a:xfrm>
            <a:off x="1167147" y="1075505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64"/>
          <p:cNvSpPr/>
          <p:nvPr/>
        </p:nvSpPr>
        <p:spPr>
          <a:xfrm>
            <a:off x="1168383" y="1321376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64"/>
          <p:cNvSpPr/>
          <p:nvPr/>
        </p:nvSpPr>
        <p:spPr>
          <a:xfrm>
            <a:off x="1167147" y="1133493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64"/>
          <p:cNvSpPr/>
          <p:nvPr/>
        </p:nvSpPr>
        <p:spPr>
          <a:xfrm>
            <a:off x="1167147" y="1198443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64"/>
          <p:cNvSpPr/>
          <p:nvPr/>
        </p:nvSpPr>
        <p:spPr>
          <a:xfrm>
            <a:off x="1167147" y="1252240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64"/>
          <p:cNvSpPr/>
          <p:nvPr/>
        </p:nvSpPr>
        <p:spPr>
          <a:xfrm>
            <a:off x="1400905" y="1198443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64"/>
          <p:cNvSpPr/>
          <p:nvPr/>
        </p:nvSpPr>
        <p:spPr>
          <a:xfrm>
            <a:off x="1542505" y="1321418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64"/>
          <p:cNvSpPr/>
          <p:nvPr/>
        </p:nvSpPr>
        <p:spPr>
          <a:xfrm>
            <a:off x="3134506" y="1133491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64"/>
          <p:cNvSpPr/>
          <p:nvPr/>
        </p:nvSpPr>
        <p:spPr>
          <a:xfrm>
            <a:off x="3464189" y="1198441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64"/>
          <p:cNvSpPr/>
          <p:nvPr/>
        </p:nvSpPr>
        <p:spPr>
          <a:xfrm>
            <a:off x="3731608" y="1321270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64"/>
          <p:cNvSpPr/>
          <p:nvPr/>
        </p:nvSpPr>
        <p:spPr>
          <a:xfrm>
            <a:off x="3134506" y="1380607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64"/>
          <p:cNvSpPr/>
          <p:nvPr/>
        </p:nvSpPr>
        <p:spPr>
          <a:xfrm>
            <a:off x="3182674" y="1514771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64"/>
          <p:cNvSpPr/>
          <p:nvPr/>
        </p:nvSpPr>
        <p:spPr>
          <a:xfrm>
            <a:off x="3422238" y="1501030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64"/>
          <p:cNvSpPr/>
          <p:nvPr/>
        </p:nvSpPr>
        <p:spPr>
          <a:xfrm>
            <a:off x="3787180" y="1136735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64"/>
          <p:cNvSpPr/>
          <p:nvPr/>
        </p:nvSpPr>
        <p:spPr>
          <a:xfrm>
            <a:off x="3787180" y="1075503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64"/>
          <p:cNvSpPr/>
          <p:nvPr/>
        </p:nvSpPr>
        <p:spPr>
          <a:xfrm>
            <a:off x="3787180" y="1000347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64"/>
          <p:cNvSpPr/>
          <p:nvPr/>
        </p:nvSpPr>
        <p:spPr>
          <a:xfrm>
            <a:off x="4713478" y="1624223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64"/>
          <p:cNvSpPr/>
          <p:nvPr/>
        </p:nvSpPr>
        <p:spPr>
          <a:xfrm>
            <a:off x="1400905" y="1501032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64"/>
          <p:cNvSpPr/>
          <p:nvPr/>
        </p:nvSpPr>
        <p:spPr>
          <a:xfrm>
            <a:off x="1542505" y="1865910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64"/>
          <p:cNvSpPr/>
          <p:nvPr/>
        </p:nvSpPr>
        <p:spPr>
          <a:xfrm>
            <a:off x="1683067" y="1872908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64"/>
          <p:cNvSpPr/>
          <p:nvPr/>
        </p:nvSpPr>
        <p:spPr>
          <a:xfrm>
            <a:off x="1683067" y="1927142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64"/>
          <p:cNvSpPr/>
          <p:nvPr/>
        </p:nvSpPr>
        <p:spPr>
          <a:xfrm>
            <a:off x="1683067" y="2058099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64"/>
          <p:cNvSpPr/>
          <p:nvPr/>
        </p:nvSpPr>
        <p:spPr>
          <a:xfrm>
            <a:off x="1683067" y="2545624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64"/>
          <p:cNvSpPr/>
          <p:nvPr/>
        </p:nvSpPr>
        <p:spPr>
          <a:xfrm>
            <a:off x="2436409" y="1690487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64"/>
          <p:cNvSpPr/>
          <p:nvPr/>
        </p:nvSpPr>
        <p:spPr>
          <a:xfrm>
            <a:off x="2807813" y="1806063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64"/>
          <p:cNvSpPr/>
          <p:nvPr/>
        </p:nvSpPr>
        <p:spPr>
          <a:xfrm>
            <a:off x="2807813" y="2355950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64"/>
          <p:cNvSpPr/>
          <p:nvPr/>
        </p:nvSpPr>
        <p:spPr>
          <a:xfrm>
            <a:off x="2436409" y="2187051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64"/>
          <p:cNvSpPr/>
          <p:nvPr/>
        </p:nvSpPr>
        <p:spPr>
          <a:xfrm>
            <a:off x="2807813" y="2122775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64"/>
          <p:cNvSpPr/>
          <p:nvPr/>
        </p:nvSpPr>
        <p:spPr>
          <a:xfrm>
            <a:off x="2807813" y="1689485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64"/>
          <p:cNvSpPr/>
          <p:nvPr/>
        </p:nvSpPr>
        <p:spPr>
          <a:xfrm>
            <a:off x="2807813" y="1624972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64"/>
          <p:cNvSpPr/>
          <p:nvPr/>
        </p:nvSpPr>
        <p:spPr>
          <a:xfrm>
            <a:off x="2807813" y="1443882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64"/>
          <p:cNvSpPr/>
          <p:nvPr/>
        </p:nvSpPr>
        <p:spPr>
          <a:xfrm>
            <a:off x="2807813" y="1382650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64"/>
          <p:cNvSpPr/>
          <p:nvPr/>
        </p:nvSpPr>
        <p:spPr>
          <a:xfrm>
            <a:off x="2807813" y="1256176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64"/>
          <p:cNvSpPr/>
          <p:nvPr/>
        </p:nvSpPr>
        <p:spPr>
          <a:xfrm>
            <a:off x="3134426" y="1627614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64"/>
          <p:cNvSpPr/>
          <p:nvPr/>
        </p:nvSpPr>
        <p:spPr>
          <a:xfrm>
            <a:off x="3182592" y="1627614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64"/>
          <p:cNvSpPr/>
          <p:nvPr/>
        </p:nvSpPr>
        <p:spPr>
          <a:xfrm>
            <a:off x="3134425" y="1809268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64"/>
          <p:cNvSpPr/>
          <p:nvPr/>
        </p:nvSpPr>
        <p:spPr>
          <a:xfrm>
            <a:off x="3887200" y="1257926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64"/>
          <p:cNvSpPr/>
          <p:nvPr/>
        </p:nvSpPr>
        <p:spPr>
          <a:xfrm>
            <a:off x="3887200" y="1443882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64"/>
          <p:cNvSpPr/>
          <p:nvPr/>
        </p:nvSpPr>
        <p:spPr>
          <a:xfrm>
            <a:off x="3887200" y="1501032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64"/>
          <p:cNvSpPr/>
          <p:nvPr/>
        </p:nvSpPr>
        <p:spPr>
          <a:xfrm>
            <a:off x="3731608" y="1627651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64"/>
          <p:cNvSpPr/>
          <p:nvPr/>
        </p:nvSpPr>
        <p:spPr>
          <a:xfrm>
            <a:off x="3787081" y="1751687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64"/>
          <p:cNvSpPr/>
          <p:nvPr/>
        </p:nvSpPr>
        <p:spPr>
          <a:xfrm>
            <a:off x="3731495" y="1806029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64"/>
          <p:cNvSpPr/>
          <p:nvPr/>
        </p:nvSpPr>
        <p:spPr>
          <a:xfrm>
            <a:off x="3731608" y="1685129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64"/>
          <p:cNvSpPr/>
          <p:nvPr/>
        </p:nvSpPr>
        <p:spPr>
          <a:xfrm>
            <a:off x="3887200" y="1685129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64"/>
          <p:cNvSpPr/>
          <p:nvPr/>
        </p:nvSpPr>
        <p:spPr>
          <a:xfrm>
            <a:off x="3887200" y="1744138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64"/>
          <p:cNvSpPr/>
          <p:nvPr/>
        </p:nvSpPr>
        <p:spPr>
          <a:xfrm>
            <a:off x="3887200" y="1869227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64"/>
          <p:cNvSpPr/>
          <p:nvPr/>
        </p:nvSpPr>
        <p:spPr>
          <a:xfrm>
            <a:off x="3887200" y="1931808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64"/>
          <p:cNvSpPr/>
          <p:nvPr/>
        </p:nvSpPr>
        <p:spPr>
          <a:xfrm>
            <a:off x="3887200" y="1997778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64"/>
          <p:cNvSpPr/>
          <p:nvPr/>
        </p:nvSpPr>
        <p:spPr>
          <a:xfrm>
            <a:off x="3883956" y="2112789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64"/>
          <p:cNvSpPr/>
          <p:nvPr/>
        </p:nvSpPr>
        <p:spPr>
          <a:xfrm>
            <a:off x="3887200" y="2178486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64"/>
          <p:cNvSpPr/>
          <p:nvPr/>
        </p:nvSpPr>
        <p:spPr>
          <a:xfrm>
            <a:off x="3464095" y="1501008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64"/>
          <p:cNvSpPr/>
          <p:nvPr/>
        </p:nvSpPr>
        <p:spPr>
          <a:xfrm>
            <a:off x="3422152" y="1443863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64"/>
          <p:cNvSpPr/>
          <p:nvPr/>
        </p:nvSpPr>
        <p:spPr>
          <a:xfrm>
            <a:off x="3787096" y="1992579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64"/>
          <p:cNvSpPr/>
          <p:nvPr/>
        </p:nvSpPr>
        <p:spPr>
          <a:xfrm>
            <a:off x="3787096" y="2056487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64"/>
          <p:cNvSpPr/>
          <p:nvPr/>
        </p:nvSpPr>
        <p:spPr>
          <a:xfrm>
            <a:off x="3731608" y="2179251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4"/>
          <p:cNvSpPr/>
          <p:nvPr/>
        </p:nvSpPr>
        <p:spPr>
          <a:xfrm>
            <a:off x="3731608" y="2056532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64"/>
          <p:cNvSpPr/>
          <p:nvPr/>
        </p:nvSpPr>
        <p:spPr>
          <a:xfrm>
            <a:off x="3731608" y="1930568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64"/>
          <p:cNvSpPr/>
          <p:nvPr/>
        </p:nvSpPr>
        <p:spPr>
          <a:xfrm>
            <a:off x="3731608" y="1992602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64"/>
          <p:cNvSpPr/>
          <p:nvPr/>
        </p:nvSpPr>
        <p:spPr>
          <a:xfrm>
            <a:off x="3731608" y="2427934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64"/>
          <p:cNvSpPr/>
          <p:nvPr/>
        </p:nvSpPr>
        <p:spPr>
          <a:xfrm>
            <a:off x="4713353" y="2612776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64"/>
          <p:cNvSpPr/>
          <p:nvPr/>
        </p:nvSpPr>
        <p:spPr>
          <a:xfrm>
            <a:off x="4213609" y="1256176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64"/>
          <p:cNvSpPr/>
          <p:nvPr/>
        </p:nvSpPr>
        <p:spPr>
          <a:xfrm>
            <a:off x="4213609" y="1317408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64"/>
          <p:cNvSpPr/>
          <p:nvPr/>
        </p:nvSpPr>
        <p:spPr>
          <a:xfrm>
            <a:off x="4213609" y="1378640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64"/>
          <p:cNvSpPr/>
          <p:nvPr/>
        </p:nvSpPr>
        <p:spPr>
          <a:xfrm>
            <a:off x="4213609" y="1445850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64"/>
          <p:cNvSpPr/>
          <p:nvPr/>
        </p:nvSpPr>
        <p:spPr>
          <a:xfrm>
            <a:off x="4213609" y="1561954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64"/>
          <p:cNvSpPr/>
          <p:nvPr/>
        </p:nvSpPr>
        <p:spPr>
          <a:xfrm>
            <a:off x="4213609" y="1623186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64"/>
          <p:cNvSpPr/>
          <p:nvPr/>
        </p:nvSpPr>
        <p:spPr>
          <a:xfrm>
            <a:off x="4213609" y="1693348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64"/>
          <p:cNvSpPr/>
          <p:nvPr/>
        </p:nvSpPr>
        <p:spPr>
          <a:xfrm>
            <a:off x="4213609" y="1867769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64"/>
          <p:cNvSpPr/>
          <p:nvPr/>
        </p:nvSpPr>
        <p:spPr>
          <a:xfrm>
            <a:off x="4213609" y="1929001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64"/>
          <p:cNvSpPr/>
          <p:nvPr/>
        </p:nvSpPr>
        <p:spPr>
          <a:xfrm>
            <a:off x="4213609" y="2059921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64"/>
          <p:cNvSpPr/>
          <p:nvPr/>
        </p:nvSpPr>
        <p:spPr>
          <a:xfrm>
            <a:off x="4213609" y="2238788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64"/>
          <p:cNvSpPr/>
          <p:nvPr/>
        </p:nvSpPr>
        <p:spPr>
          <a:xfrm>
            <a:off x="4213609" y="2298964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64"/>
          <p:cNvSpPr/>
          <p:nvPr/>
        </p:nvSpPr>
        <p:spPr>
          <a:xfrm>
            <a:off x="4213609" y="2609808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64"/>
          <p:cNvSpPr/>
          <p:nvPr/>
        </p:nvSpPr>
        <p:spPr>
          <a:xfrm>
            <a:off x="4213609" y="2424307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64"/>
          <p:cNvSpPr/>
          <p:nvPr/>
        </p:nvSpPr>
        <p:spPr>
          <a:xfrm>
            <a:off x="4213609" y="2863666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64"/>
          <p:cNvSpPr/>
          <p:nvPr/>
        </p:nvSpPr>
        <p:spPr>
          <a:xfrm>
            <a:off x="4213609" y="2974723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64"/>
          <p:cNvSpPr/>
          <p:nvPr/>
        </p:nvSpPr>
        <p:spPr>
          <a:xfrm>
            <a:off x="5152581" y="3718736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64"/>
          <p:cNvSpPr/>
          <p:nvPr/>
        </p:nvSpPr>
        <p:spPr>
          <a:xfrm>
            <a:off x="5152581" y="3657270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64"/>
          <p:cNvSpPr/>
          <p:nvPr/>
        </p:nvSpPr>
        <p:spPr>
          <a:xfrm>
            <a:off x="5152581" y="3597359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64"/>
          <p:cNvSpPr/>
          <p:nvPr/>
        </p:nvSpPr>
        <p:spPr>
          <a:xfrm>
            <a:off x="5152581" y="3532591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64"/>
          <p:cNvSpPr/>
          <p:nvPr/>
        </p:nvSpPr>
        <p:spPr>
          <a:xfrm>
            <a:off x="5152581" y="3165563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64"/>
          <p:cNvSpPr/>
          <p:nvPr/>
        </p:nvSpPr>
        <p:spPr>
          <a:xfrm>
            <a:off x="5152581" y="2913472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64"/>
          <p:cNvSpPr/>
          <p:nvPr/>
        </p:nvSpPr>
        <p:spPr>
          <a:xfrm>
            <a:off x="5152581" y="2792666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64"/>
          <p:cNvSpPr/>
          <p:nvPr/>
        </p:nvSpPr>
        <p:spPr>
          <a:xfrm>
            <a:off x="5152581" y="2548740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64"/>
          <p:cNvSpPr/>
          <p:nvPr/>
        </p:nvSpPr>
        <p:spPr>
          <a:xfrm>
            <a:off x="5152581" y="2178777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64"/>
          <p:cNvSpPr/>
          <p:nvPr/>
        </p:nvSpPr>
        <p:spPr>
          <a:xfrm>
            <a:off x="5152581" y="1992830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64"/>
          <p:cNvSpPr/>
          <p:nvPr/>
        </p:nvSpPr>
        <p:spPr>
          <a:xfrm>
            <a:off x="5152581" y="1931953"/>
            <a:ext cx="61200" cy="61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6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2297E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419"/>
              <a:buNone/>
            </a:pPr>
            <a:r>
              <a:rPr lang="en-US"/>
              <a:t>How accurately can we process syllable data?</a:t>
            </a:r>
            <a:endParaRPr/>
          </a:p>
        </p:txBody>
      </p:sp>
      <p:grpSp>
        <p:nvGrpSpPr>
          <p:cNvPr id="1407" name="Google Shape;1407;p64"/>
          <p:cNvGrpSpPr/>
          <p:nvPr/>
        </p:nvGrpSpPr>
        <p:grpSpPr>
          <a:xfrm flipH="1">
            <a:off x="5960524" y="856626"/>
            <a:ext cx="2630400" cy="3057144"/>
            <a:chOff x="6417725" y="1014750"/>
            <a:chExt cx="2630400" cy="2349300"/>
          </a:xfrm>
        </p:grpSpPr>
        <p:sp>
          <p:nvSpPr>
            <p:cNvPr id="1408" name="Google Shape;1408;p64"/>
            <p:cNvSpPr/>
            <p:nvPr/>
          </p:nvSpPr>
          <p:spPr>
            <a:xfrm>
              <a:off x="6417725" y="1014750"/>
              <a:ext cx="2630400" cy="2349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9" name="Google Shape;1409;p64"/>
            <p:cNvGrpSpPr/>
            <p:nvPr/>
          </p:nvGrpSpPr>
          <p:grpSpPr>
            <a:xfrm>
              <a:off x="6506891" y="2141226"/>
              <a:ext cx="242466" cy="1222495"/>
              <a:chOff x="6456100" y="2250300"/>
              <a:chExt cx="201000" cy="1047374"/>
            </a:xfrm>
          </p:grpSpPr>
          <p:sp>
            <p:nvSpPr>
              <p:cNvPr id="1410" name="Google Shape;1410;p64"/>
              <p:cNvSpPr/>
              <p:nvPr/>
            </p:nvSpPr>
            <p:spPr>
              <a:xfrm>
                <a:off x="6456100" y="2649374"/>
                <a:ext cx="201000" cy="648300"/>
              </a:xfrm>
              <a:prstGeom prst="rect">
                <a:avLst/>
              </a:prstGeom>
              <a:solidFill>
                <a:srgbClr val="B7B7B7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11" name="Google Shape;1411;p64"/>
              <p:cNvCxnSpPr/>
              <p:nvPr/>
            </p:nvCxnSpPr>
            <p:spPr>
              <a:xfrm>
                <a:off x="6556600" y="2250300"/>
                <a:ext cx="0" cy="786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412" name="Google Shape;1412;p64"/>
            <p:cNvSpPr/>
            <p:nvPr/>
          </p:nvSpPr>
          <p:spPr>
            <a:xfrm>
              <a:off x="6819438" y="1850148"/>
              <a:ext cx="242700" cy="1513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3" name="Google Shape;1413;p64"/>
            <p:cNvCxnSpPr/>
            <p:nvPr/>
          </p:nvCxnSpPr>
          <p:spPr>
            <a:xfrm>
              <a:off x="6940663" y="1474209"/>
              <a:ext cx="0" cy="738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14" name="Google Shape;1414;p64"/>
            <p:cNvSpPr/>
            <p:nvPr/>
          </p:nvSpPr>
          <p:spPr>
            <a:xfrm>
              <a:off x="7132458" y="1785191"/>
              <a:ext cx="242700" cy="15786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5" name="Google Shape;1415;p64"/>
            <p:cNvCxnSpPr/>
            <p:nvPr/>
          </p:nvCxnSpPr>
          <p:spPr>
            <a:xfrm>
              <a:off x="7253684" y="1623557"/>
              <a:ext cx="0" cy="3627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16" name="Google Shape;1416;p64"/>
            <p:cNvSpPr/>
            <p:nvPr/>
          </p:nvSpPr>
          <p:spPr>
            <a:xfrm>
              <a:off x="7445478" y="1909774"/>
              <a:ext cx="242700" cy="1453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7" name="Google Shape;1417;p64"/>
            <p:cNvCxnSpPr/>
            <p:nvPr/>
          </p:nvCxnSpPr>
          <p:spPr>
            <a:xfrm>
              <a:off x="7566704" y="1689127"/>
              <a:ext cx="0" cy="485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18" name="Google Shape;1418;p64"/>
            <p:cNvSpPr/>
            <p:nvPr/>
          </p:nvSpPr>
          <p:spPr>
            <a:xfrm>
              <a:off x="7758499" y="1754872"/>
              <a:ext cx="242700" cy="16089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9" name="Google Shape;1419;p64"/>
            <p:cNvCxnSpPr/>
            <p:nvPr/>
          </p:nvCxnSpPr>
          <p:spPr>
            <a:xfrm>
              <a:off x="7879724" y="1495745"/>
              <a:ext cx="0" cy="5142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0" name="Google Shape;1420;p64"/>
            <p:cNvSpPr/>
            <p:nvPr/>
          </p:nvSpPr>
          <p:spPr>
            <a:xfrm>
              <a:off x="8071519" y="1861703"/>
              <a:ext cx="242700" cy="1501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1" name="Google Shape;1421;p64"/>
            <p:cNvCxnSpPr/>
            <p:nvPr/>
          </p:nvCxnSpPr>
          <p:spPr>
            <a:xfrm>
              <a:off x="8192745" y="1578239"/>
              <a:ext cx="0" cy="584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2" name="Google Shape;1422;p64"/>
            <p:cNvSpPr/>
            <p:nvPr/>
          </p:nvSpPr>
          <p:spPr>
            <a:xfrm>
              <a:off x="8384539" y="1483401"/>
              <a:ext cx="242700" cy="18804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3" name="Google Shape;1423;p64"/>
            <p:cNvCxnSpPr/>
            <p:nvPr/>
          </p:nvCxnSpPr>
          <p:spPr>
            <a:xfrm>
              <a:off x="8505765" y="1356801"/>
              <a:ext cx="0" cy="265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4" name="Google Shape;1424;p64"/>
            <p:cNvSpPr/>
            <p:nvPr/>
          </p:nvSpPr>
          <p:spPr>
            <a:xfrm>
              <a:off x="8697560" y="1417131"/>
              <a:ext cx="242700" cy="19467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5" name="Google Shape;1425;p64"/>
            <p:cNvCxnSpPr/>
            <p:nvPr/>
          </p:nvCxnSpPr>
          <p:spPr>
            <a:xfrm>
              <a:off x="8818786" y="1195706"/>
              <a:ext cx="0" cy="441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26" name="Google Shape;1426;p64"/>
          <p:cNvSpPr txBox="1"/>
          <p:nvPr/>
        </p:nvSpPr>
        <p:spPr>
          <a:xfrm flipH="1">
            <a:off x="5960772" y="3956350"/>
            <a:ext cx="5421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64"/>
          <p:cNvSpPr txBox="1"/>
          <p:nvPr/>
        </p:nvSpPr>
        <p:spPr>
          <a:xfrm flipH="1">
            <a:off x="7946346" y="3956350"/>
            <a:ext cx="644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Distant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8" name="Google Shape;1428;p64"/>
          <p:cNvCxnSpPr>
            <a:stCxn id="1427" idx="3"/>
            <a:endCxn id="1426" idx="1"/>
          </p:cNvCxnSpPr>
          <p:nvPr/>
        </p:nvCxnSpPr>
        <p:spPr>
          <a:xfrm rot="10800000">
            <a:off x="6502746" y="4082050"/>
            <a:ext cx="144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9" name="Google Shape;1429;p64"/>
          <p:cNvSpPr txBox="1"/>
          <p:nvPr/>
        </p:nvSpPr>
        <p:spPr>
          <a:xfrm>
            <a:off x="5960225" y="4180630"/>
            <a:ext cx="2631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Phylogenetic Relatedness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64"/>
          <p:cNvSpPr txBox="1"/>
          <p:nvPr>
            <p:ph type="title"/>
          </p:nvPr>
        </p:nvSpPr>
        <p:spPr>
          <a:xfrm>
            <a:off x="0" y="4569000"/>
            <a:ext cx="9144000" cy="572700"/>
          </a:xfrm>
          <a:prstGeom prst="rect">
            <a:avLst/>
          </a:prstGeom>
          <a:solidFill>
            <a:srgbClr val="DAA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Provost et al. 2022, </a:t>
            </a:r>
            <a:r>
              <a:rPr i="1" lang="en-US" sz="1400"/>
              <a:t>PLOS ONE</a:t>
            </a:r>
            <a:endParaRPr i="1" sz="1400"/>
          </a:p>
        </p:txBody>
      </p:sp>
      <p:sp>
        <p:nvSpPr>
          <p:cNvPr id="1431" name="Google Shape;1431;p64"/>
          <p:cNvSpPr txBox="1"/>
          <p:nvPr/>
        </p:nvSpPr>
        <p:spPr>
          <a:xfrm>
            <a:off x="5335428" y="789450"/>
            <a:ext cx="5421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2" name="Google Shape;1432;p64"/>
          <p:cNvCxnSpPr/>
          <p:nvPr/>
        </p:nvCxnSpPr>
        <p:spPr>
          <a:xfrm>
            <a:off x="5877492" y="864239"/>
            <a:ext cx="7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3" name="Google Shape;1433;p64"/>
          <p:cNvSpPr txBox="1"/>
          <p:nvPr/>
        </p:nvSpPr>
        <p:spPr>
          <a:xfrm>
            <a:off x="5424822" y="1981015"/>
            <a:ext cx="4527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4" name="Google Shape;1434;p64"/>
          <p:cNvCxnSpPr/>
          <p:nvPr/>
        </p:nvCxnSpPr>
        <p:spPr>
          <a:xfrm>
            <a:off x="5877492" y="2056280"/>
            <a:ext cx="7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5" name="Google Shape;1435;p64"/>
          <p:cNvSpPr txBox="1"/>
          <p:nvPr/>
        </p:nvSpPr>
        <p:spPr>
          <a:xfrm>
            <a:off x="5424822" y="2576794"/>
            <a:ext cx="4527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6" name="Google Shape;1436;p64"/>
          <p:cNvCxnSpPr/>
          <p:nvPr/>
        </p:nvCxnSpPr>
        <p:spPr>
          <a:xfrm>
            <a:off x="5877492" y="2652535"/>
            <a:ext cx="7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7" name="Google Shape;1437;p64"/>
          <p:cNvSpPr txBox="1"/>
          <p:nvPr/>
        </p:nvSpPr>
        <p:spPr>
          <a:xfrm>
            <a:off x="5424822" y="3170383"/>
            <a:ext cx="4527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8" name="Google Shape;1438;p64"/>
          <p:cNvCxnSpPr/>
          <p:nvPr/>
        </p:nvCxnSpPr>
        <p:spPr>
          <a:xfrm>
            <a:off x="5877492" y="3246600"/>
            <a:ext cx="7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9" name="Google Shape;1439;p64"/>
          <p:cNvSpPr txBox="1"/>
          <p:nvPr/>
        </p:nvSpPr>
        <p:spPr>
          <a:xfrm>
            <a:off x="5424822" y="3763972"/>
            <a:ext cx="4527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0" name="Google Shape;1440;p64"/>
          <p:cNvCxnSpPr/>
          <p:nvPr/>
        </p:nvCxnSpPr>
        <p:spPr>
          <a:xfrm>
            <a:off x="5877492" y="3840665"/>
            <a:ext cx="7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1" name="Google Shape;1441;p64"/>
          <p:cNvSpPr txBox="1"/>
          <p:nvPr/>
        </p:nvSpPr>
        <p:spPr>
          <a:xfrm>
            <a:off x="5424822" y="1385230"/>
            <a:ext cx="4527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2" name="Google Shape;1442;p64"/>
          <p:cNvCxnSpPr/>
          <p:nvPr/>
        </p:nvCxnSpPr>
        <p:spPr>
          <a:xfrm>
            <a:off x="5877492" y="1460019"/>
            <a:ext cx="7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65"/>
          <p:cNvSpPr txBox="1"/>
          <p:nvPr>
            <p:ph type="title"/>
          </p:nvPr>
        </p:nvSpPr>
        <p:spPr>
          <a:xfrm>
            <a:off x="447450" y="526350"/>
            <a:ext cx="8249100" cy="4090800"/>
          </a:xfrm>
          <a:prstGeom prst="rect">
            <a:avLst/>
          </a:prstGeom>
          <a:solidFill>
            <a:srgbClr val="DAAD86"/>
          </a:solidFill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Student-selected topics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